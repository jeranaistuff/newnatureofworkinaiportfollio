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y="6858000" cx="12192000"/>
  <p:notesSz cx="6858000" cy="9144000"/>
  <p:embeddedFontLst>
    <p:embeddedFont>
      <p:font typeface="Urbanist"/>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4F6E4E9-EF45-4D2E-9249-9E4A737D0C2A}">
  <a:tblStyle styleId="{64F6E4E9-EF45-4D2E-9249-9E4A737D0C2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font" Target="fonts/Urbanist-bold.fntdata"/><Relationship Id="rId10" Type="http://schemas.openxmlformats.org/officeDocument/2006/relationships/slide" Target="slides/slide4.xml"/><Relationship Id="rId21" Type="http://schemas.openxmlformats.org/officeDocument/2006/relationships/font" Target="fonts/Urbanist-regular.fntdata"/><Relationship Id="rId13" Type="http://schemas.openxmlformats.org/officeDocument/2006/relationships/slide" Target="slides/slide7.xml"/><Relationship Id="rId24" Type="http://schemas.openxmlformats.org/officeDocument/2006/relationships/font" Target="fonts/Urbanist-boldItalic.fntdata"/><Relationship Id="rId12" Type="http://schemas.openxmlformats.org/officeDocument/2006/relationships/slide" Target="slides/slide6.xml"/><Relationship Id="rId23" Type="http://schemas.openxmlformats.org/officeDocument/2006/relationships/font" Target="fonts/Urbanist-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2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16.png"/><Relationship Id="rId7" Type="http://schemas.openxmlformats.org/officeDocument/2006/relationships/image" Target="../media/image3.png"/><Relationship Id="rId8"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9.png"/><Relationship Id="rId6"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11.png"/><Relationship Id="rId6"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13.png"/><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18.png"/><Relationship Id="rId9" Type="http://schemas.openxmlformats.org/officeDocument/2006/relationships/image" Target="../media/image22.png"/><Relationship Id="rId5" Type="http://schemas.openxmlformats.org/officeDocument/2006/relationships/image" Target="../media/image19.png"/><Relationship Id="rId6" Type="http://schemas.openxmlformats.org/officeDocument/2006/relationships/image" Target="../media/image26.png"/><Relationship Id="rId7" Type="http://schemas.openxmlformats.org/officeDocument/2006/relationships/image" Target="../media/image31.png"/><Relationship Id="rId8"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20.png"/><Relationship Id="rId5" Type="http://schemas.openxmlformats.org/officeDocument/2006/relationships/image" Target="../media/image25.png"/><Relationship Id="rId6" Type="http://schemas.openxmlformats.org/officeDocument/2006/relationships/image" Target="../media/image30.png"/><Relationship Id="rId7"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27.png"/><Relationship Id="rId5" Type="http://schemas.openxmlformats.org/officeDocument/2006/relationships/image" Target="../media/image34.png"/><Relationship Id="rId6" Type="http://schemas.openxmlformats.org/officeDocument/2006/relationships/image" Target="../media/image28.png"/><Relationship Id="rId7"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9.png"/><Relationship Id="rId4" Type="http://schemas.openxmlformats.org/officeDocument/2006/relationships/image" Target="../media/image36.png"/><Relationship Id="rId5" Type="http://schemas.openxmlformats.org/officeDocument/2006/relationships/image" Target="../media/image35.png"/><Relationship Id="rId6" Type="http://schemas.openxmlformats.org/officeDocument/2006/relationships/image" Target="../media/image33.png"/><Relationship Id="rId7"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txBox="1"/>
          <p:nvPr/>
        </p:nvSpPr>
        <p:spPr>
          <a:xfrm>
            <a:off x="2935605" y="2099518"/>
            <a:ext cx="6320790" cy="1508521"/>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5400" u="none" cap="none" strike="noStrike">
                <a:solidFill>
                  <a:srgbClr val="F8FAFC"/>
                </a:solidFill>
                <a:latin typeface="Urbanist"/>
                <a:ea typeface="Urbanist"/>
                <a:cs typeface="Urbanist"/>
                <a:sym typeface="Urbanist"/>
              </a:rPr>
              <a:t>AI-Powered Artist</a:t>
            </a:r>
            <a:br>
              <a:rPr b="0" i="0" lang="en-US" sz="1800" u="none" cap="none" strike="noStrike">
                <a:solidFill>
                  <a:schemeClr val="dk1"/>
                </a:solidFill>
                <a:latin typeface="Calibri"/>
                <a:ea typeface="Calibri"/>
                <a:cs typeface="Calibri"/>
                <a:sym typeface="Calibri"/>
              </a:rPr>
            </a:br>
            <a:r>
              <a:rPr b="1" i="0" lang="en-US" sz="5400" u="none" cap="none" strike="noStrike">
                <a:solidFill>
                  <a:srgbClr val="DEFF9A"/>
                </a:solidFill>
                <a:latin typeface="Urbanist"/>
                <a:ea typeface="Urbanist"/>
                <a:cs typeface="Urbanist"/>
                <a:sym typeface="Urbanist"/>
              </a:rPr>
              <a:t>Promotion Assistant</a:t>
            </a:r>
            <a:endParaRPr/>
          </a:p>
        </p:txBody>
      </p:sp>
      <p:sp>
        <p:nvSpPr>
          <p:cNvPr id="86" name="Google Shape;86;p13"/>
          <p:cNvSpPr txBox="1"/>
          <p:nvPr/>
        </p:nvSpPr>
        <p:spPr>
          <a:xfrm>
            <a:off x="3895725" y="3798540"/>
            <a:ext cx="4400700" cy="11634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CBD5E1"/>
                </a:solidFill>
                <a:latin typeface="Urbanist"/>
                <a:ea typeface="Urbanist"/>
                <a:cs typeface="Urbanist"/>
                <a:sym typeface="Urbanist"/>
              </a:rPr>
              <a:t>Midterm Proposal for Joe Fleishman</a:t>
            </a:r>
            <a:br>
              <a:rPr b="0" i="0" lang="en-US" sz="1800" u="none" cap="none" strike="noStrike">
                <a:solidFill>
                  <a:schemeClr val="dk1"/>
                </a:solidFill>
                <a:latin typeface="Calibri"/>
                <a:ea typeface="Calibri"/>
                <a:cs typeface="Calibri"/>
                <a:sym typeface="Calibri"/>
              </a:rPr>
            </a:br>
            <a:r>
              <a:rPr b="0" i="0" lang="en-US" sz="1800" u="none" cap="none" strike="noStrike">
                <a:solidFill>
                  <a:srgbClr val="CBD5E1"/>
                </a:solidFill>
                <a:latin typeface="Urbanist"/>
                <a:ea typeface="Urbanist"/>
                <a:cs typeface="Urbanist"/>
                <a:sym typeface="Urbanist"/>
              </a:rPr>
              <a:t> ArtInsight AI Consulting | November 2</a:t>
            </a:r>
            <a:r>
              <a:rPr lang="en-US" sz="1800">
                <a:solidFill>
                  <a:srgbClr val="CBD5E1"/>
                </a:solidFill>
                <a:latin typeface="Urbanist"/>
                <a:ea typeface="Urbanist"/>
                <a:cs typeface="Urbanist"/>
                <a:sym typeface="Urbanist"/>
              </a:rPr>
              <a:t>4</a:t>
            </a:r>
            <a:r>
              <a:rPr b="0" i="0" lang="en-US" sz="1800" u="none" cap="none" strike="noStrike">
                <a:solidFill>
                  <a:srgbClr val="CBD5E1"/>
                </a:solidFill>
                <a:latin typeface="Urbanist"/>
                <a:ea typeface="Urbanist"/>
                <a:cs typeface="Urbanist"/>
                <a:sym typeface="Urbanist"/>
              </a:rPr>
              <a:t>, 2025</a:t>
            </a:r>
            <a:endParaRPr/>
          </a:p>
        </p:txBody>
      </p:sp>
      <p:sp>
        <p:nvSpPr>
          <p:cNvPr id="87" name="Google Shape;87;p13"/>
          <p:cNvSpPr txBox="1"/>
          <p:nvPr/>
        </p:nvSpPr>
        <p:spPr>
          <a:xfrm>
            <a:off x="4949050" y="5189450"/>
            <a:ext cx="40725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rgbClr val="6AA84F"/>
                </a:solidFill>
                <a:latin typeface="Calibri"/>
                <a:ea typeface="Calibri"/>
                <a:cs typeface="Calibri"/>
                <a:sym typeface="Calibri"/>
              </a:rPr>
              <a:t>Jeran Kilpack</a:t>
            </a:r>
            <a:endParaRPr sz="3200">
              <a:solidFill>
                <a:srgbClr val="6AA84F"/>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91" name="Shape 91"/>
        <p:cNvGrpSpPr/>
        <p:nvPr/>
      </p:nvGrpSpPr>
      <p:grpSpPr>
        <a:xfrm>
          <a:off x="0" y="0"/>
          <a:ext cx="0" cy="0"/>
          <a:chOff x="0" y="0"/>
          <a:chExt cx="0" cy="0"/>
        </a:xfrm>
      </p:grpSpPr>
      <p:pic>
        <p:nvPicPr>
          <p:cNvPr descr="image.png" id="92" name="Google Shape;92;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3" name="Google Shape;93;p14"/>
          <p:cNvPicPr preferRelativeResize="0"/>
          <p:nvPr/>
        </p:nvPicPr>
        <p:blipFill rotWithShape="1">
          <a:blip r:embed="rId4">
            <a:alphaModFix/>
          </a:blip>
          <a:srcRect b="0" l="0" r="0" t="0"/>
          <a:stretch/>
        </p:blipFill>
        <p:spPr>
          <a:xfrm>
            <a:off x="571500" y="2462212"/>
            <a:ext cx="5238750" cy="3152775"/>
          </a:xfrm>
          <a:prstGeom prst="rect">
            <a:avLst/>
          </a:prstGeom>
          <a:noFill/>
          <a:ln>
            <a:noFill/>
          </a:ln>
        </p:spPr>
      </p:pic>
      <p:pic>
        <p:nvPicPr>
          <p:cNvPr descr="image.png" id="94" name="Google Shape;94;p14"/>
          <p:cNvPicPr preferRelativeResize="0"/>
          <p:nvPr/>
        </p:nvPicPr>
        <p:blipFill rotWithShape="1">
          <a:blip r:embed="rId4">
            <a:alphaModFix/>
          </a:blip>
          <a:srcRect b="0" l="0" r="0" t="0"/>
          <a:stretch/>
        </p:blipFill>
        <p:spPr>
          <a:xfrm>
            <a:off x="6381750" y="2462212"/>
            <a:ext cx="5238750" cy="3152775"/>
          </a:xfrm>
          <a:prstGeom prst="rect">
            <a:avLst/>
          </a:prstGeom>
          <a:noFill/>
          <a:ln>
            <a:noFill/>
          </a:ln>
        </p:spPr>
      </p:pic>
      <p:sp>
        <p:nvSpPr>
          <p:cNvPr id="95" name="Google Shape;95;p14"/>
          <p:cNvSpPr txBox="1"/>
          <p:nvPr/>
        </p:nvSpPr>
        <p:spPr>
          <a:xfrm>
            <a:off x="962025" y="3005137"/>
            <a:ext cx="4680585"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DEFF9A"/>
                </a:solidFill>
                <a:latin typeface="Urbanist"/>
                <a:ea typeface="Urbanist"/>
                <a:cs typeface="Urbanist"/>
                <a:sym typeface="Urbanist"/>
              </a:rPr>
              <a:t>The Challenge</a:t>
            </a:r>
            <a:endParaRPr/>
          </a:p>
        </p:txBody>
      </p:sp>
      <p:sp>
        <p:nvSpPr>
          <p:cNvPr id="96" name="Google Shape;96;p14"/>
          <p:cNvSpPr txBox="1"/>
          <p:nvPr/>
        </p:nvSpPr>
        <p:spPr>
          <a:xfrm>
            <a:off x="962025" y="3662362"/>
            <a:ext cx="4457700"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Urbanist"/>
                <a:ea typeface="Urbanist"/>
                <a:cs typeface="Urbanist"/>
                <a:sym typeface="Urbanist"/>
              </a:rPr>
              <a:t>Joe Fleishman's art is professional and unique, but his online presence suffers from low visibility. With no marketing budget and limited time, finding qualified buyers in a crowded digital space is inefficient.</a:t>
            </a:r>
            <a:endParaRPr/>
          </a:p>
        </p:txBody>
      </p:sp>
      <p:sp>
        <p:nvSpPr>
          <p:cNvPr id="97" name="Google Shape;97;p14"/>
          <p:cNvSpPr txBox="1"/>
          <p:nvPr/>
        </p:nvSpPr>
        <p:spPr>
          <a:xfrm>
            <a:off x="6772275" y="2852737"/>
            <a:ext cx="4680585"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DEFF9A"/>
                </a:solidFill>
                <a:latin typeface="Urbanist"/>
                <a:ea typeface="Urbanist"/>
                <a:cs typeface="Urbanist"/>
                <a:sym typeface="Urbanist"/>
              </a:rPr>
              <a:t>The Solution</a:t>
            </a:r>
            <a:endParaRPr/>
          </a:p>
        </p:txBody>
      </p:sp>
      <p:sp>
        <p:nvSpPr>
          <p:cNvPr id="98" name="Google Shape;98;p14"/>
          <p:cNvSpPr txBox="1"/>
          <p:nvPr/>
        </p:nvSpPr>
        <p:spPr>
          <a:xfrm>
            <a:off x="6772275" y="3509962"/>
            <a:ext cx="4457700" cy="1524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Urbanist"/>
                <a:ea typeface="Urbanist"/>
                <a:cs typeface="Urbanist"/>
                <a:sym typeface="Urbanist"/>
              </a:rPr>
              <a:t>We propose an AI-Powered Assistant that ethically monitors Reddit and Pinterest. Using a "Human-in-the-Loop" model, it identifies high-intent buyers and drafts contextual engagement for Joe's final approval.</a:t>
            </a:r>
            <a:endParaRPr/>
          </a:p>
        </p:txBody>
      </p:sp>
      <p:sp>
        <p:nvSpPr>
          <p:cNvPr id="99" name="Google Shape;99;p14"/>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DEFF9A"/>
                </a:solidFill>
                <a:latin typeface="Urbanist"/>
                <a:ea typeface="Urbanist"/>
                <a:cs typeface="Urbanist"/>
                <a:sym typeface="Urbanist"/>
              </a:rPr>
              <a:t>Executive Summary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03" name="Shape 103"/>
        <p:cNvGrpSpPr/>
        <p:nvPr/>
      </p:nvGrpSpPr>
      <p:grpSpPr>
        <a:xfrm>
          <a:off x="0" y="0"/>
          <a:ext cx="0" cy="0"/>
          <a:chOff x="0" y="0"/>
          <a:chExt cx="0" cy="0"/>
        </a:xfrm>
      </p:grpSpPr>
      <p:pic>
        <p:nvPicPr>
          <p:cNvPr descr="image.png" id="104" name="Google Shape;104;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05" name="Google Shape;105;p15"/>
          <p:cNvPicPr preferRelativeResize="0"/>
          <p:nvPr/>
        </p:nvPicPr>
        <p:blipFill rotWithShape="1">
          <a:blip r:embed="rId4">
            <a:alphaModFix/>
          </a:blip>
          <a:srcRect b="0" l="0" r="0" t="0"/>
          <a:stretch/>
        </p:blipFill>
        <p:spPr>
          <a:xfrm>
            <a:off x="6381750" y="2133600"/>
            <a:ext cx="5238750" cy="3810000"/>
          </a:xfrm>
          <a:prstGeom prst="rect">
            <a:avLst/>
          </a:prstGeom>
          <a:noFill/>
          <a:ln>
            <a:noFill/>
          </a:ln>
        </p:spPr>
      </p:pic>
      <p:sp>
        <p:nvSpPr>
          <p:cNvPr id="106" name="Google Shape;106;p15"/>
          <p:cNvSpPr txBox="1"/>
          <p:nvPr/>
        </p:nvSpPr>
        <p:spPr>
          <a:xfrm>
            <a:off x="571500" y="2528887"/>
            <a:ext cx="5500687"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DEFF9A"/>
                </a:solidFill>
                <a:latin typeface="Urbanist"/>
                <a:ea typeface="Urbanist"/>
                <a:cs typeface="Urbanist"/>
                <a:sym typeface="Urbanist"/>
              </a:rPr>
              <a:t>Joe Fleishman's Art</a:t>
            </a:r>
            <a:endParaRPr/>
          </a:p>
        </p:txBody>
      </p:sp>
      <p:sp>
        <p:nvSpPr>
          <p:cNvPr id="107" name="Google Shape;107;p15"/>
          <p:cNvSpPr txBox="1"/>
          <p:nvPr/>
        </p:nvSpPr>
        <p:spPr>
          <a:xfrm>
            <a:off x="1333500" y="3005137"/>
            <a:ext cx="44767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Diverse Collections:</a:t>
            </a:r>
            <a:r>
              <a:rPr b="0" i="0" lang="en-US" sz="1500" u="none" cap="none" strike="noStrike">
                <a:solidFill>
                  <a:srgbClr val="CBD5E1"/>
                </a:solidFill>
                <a:latin typeface="Urbanist"/>
                <a:ea typeface="Urbanist"/>
                <a:cs typeface="Urbanist"/>
                <a:sym typeface="Urbanist"/>
              </a:rPr>
              <a:t> Abstract, American Heritage, Cave Art, Floral, Nature, Sea.</a:t>
            </a:r>
            <a:endParaRPr/>
          </a:p>
        </p:txBody>
      </p:sp>
      <p:sp>
        <p:nvSpPr>
          <p:cNvPr id="108" name="Google Shape;108;p15"/>
          <p:cNvSpPr txBox="1"/>
          <p:nvPr/>
        </p:nvSpPr>
        <p:spPr>
          <a:xfrm>
            <a:off x="1333500" y="3852862"/>
            <a:ext cx="44767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USP:</a:t>
            </a:r>
            <a:r>
              <a:rPr b="0" i="0" lang="en-US" sz="1500" u="none" cap="none" strike="noStrike">
                <a:solidFill>
                  <a:srgbClr val="CBD5E1"/>
                </a:solidFill>
                <a:latin typeface="Urbanist"/>
                <a:ea typeface="Urbanist"/>
                <a:cs typeface="Urbanist"/>
                <a:sym typeface="Urbanist"/>
              </a:rPr>
              <a:t> Professional "Art Storefronts" site with AR preview features, bridging the gap between affordable prints and high-value originals.</a:t>
            </a:r>
            <a:endParaRPr/>
          </a:p>
        </p:txBody>
      </p:sp>
      <p:sp>
        <p:nvSpPr>
          <p:cNvPr id="109" name="Google Shape;109;p15"/>
          <p:cNvSpPr txBox="1"/>
          <p:nvPr/>
        </p:nvSpPr>
        <p:spPr>
          <a:xfrm>
            <a:off x="1333500" y="5005387"/>
            <a:ext cx="447675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Goal:</a:t>
            </a:r>
            <a:r>
              <a:rPr b="0" i="0" lang="en-US" sz="1500" u="none" cap="none" strike="noStrike">
                <a:solidFill>
                  <a:srgbClr val="CBD5E1"/>
                </a:solidFill>
                <a:latin typeface="Urbanist"/>
                <a:ea typeface="Urbanist"/>
                <a:cs typeface="Urbanist"/>
                <a:sym typeface="Urbanist"/>
              </a:rPr>
              <a:t> Ethical growth without aggressive sales tactics.</a:t>
            </a:r>
            <a:endParaRPr/>
          </a:p>
        </p:txBody>
      </p:sp>
      <p:pic>
        <p:nvPicPr>
          <p:cNvPr descr="image.png" id="110" name="Google Shape;110;p15"/>
          <p:cNvPicPr preferRelativeResize="0"/>
          <p:nvPr/>
        </p:nvPicPr>
        <p:blipFill rotWithShape="1">
          <a:blip r:embed="rId5">
            <a:alphaModFix/>
          </a:blip>
          <a:srcRect b="0" l="0" r="0" t="0"/>
          <a:stretch/>
        </p:blipFill>
        <p:spPr>
          <a:xfrm>
            <a:off x="952500" y="3043237"/>
            <a:ext cx="228600" cy="228600"/>
          </a:xfrm>
          <a:prstGeom prst="rect">
            <a:avLst/>
          </a:prstGeom>
          <a:noFill/>
          <a:ln>
            <a:noFill/>
          </a:ln>
        </p:spPr>
      </p:pic>
      <p:pic>
        <p:nvPicPr>
          <p:cNvPr descr="image.png" id="111" name="Google Shape;111;p15"/>
          <p:cNvPicPr preferRelativeResize="0"/>
          <p:nvPr/>
        </p:nvPicPr>
        <p:blipFill rotWithShape="1">
          <a:blip r:embed="rId6">
            <a:alphaModFix/>
          </a:blip>
          <a:srcRect b="0" l="0" r="0" t="0"/>
          <a:stretch/>
        </p:blipFill>
        <p:spPr>
          <a:xfrm>
            <a:off x="952500" y="3890962"/>
            <a:ext cx="257175" cy="228600"/>
          </a:xfrm>
          <a:prstGeom prst="rect">
            <a:avLst/>
          </a:prstGeom>
          <a:noFill/>
          <a:ln>
            <a:noFill/>
          </a:ln>
        </p:spPr>
      </p:pic>
      <p:pic>
        <p:nvPicPr>
          <p:cNvPr descr="image.png" id="112" name="Google Shape;112;p15"/>
          <p:cNvPicPr preferRelativeResize="0"/>
          <p:nvPr/>
        </p:nvPicPr>
        <p:blipFill rotWithShape="1">
          <a:blip r:embed="rId7">
            <a:alphaModFix/>
          </a:blip>
          <a:srcRect b="0" l="0" r="0" t="0"/>
          <a:stretch/>
        </p:blipFill>
        <p:spPr>
          <a:xfrm>
            <a:off x="952500" y="5043487"/>
            <a:ext cx="228600" cy="228600"/>
          </a:xfrm>
          <a:prstGeom prst="rect">
            <a:avLst/>
          </a:prstGeom>
          <a:noFill/>
          <a:ln>
            <a:noFill/>
          </a:ln>
        </p:spPr>
      </p:pic>
      <p:sp>
        <p:nvSpPr>
          <p:cNvPr id="113" name="Google Shape;113;p15"/>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DEFF9A"/>
                </a:solidFill>
                <a:latin typeface="Urbanist"/>
                <a:ea typeface="Urbanist"/>
                <a:cs typeface="Urbanist"/>
                <a:sym typeface="Urbanist"/>
              </a:rPr>
              <a:t>Client &amp; Brand Analysis</a:t>
            </a:r>
            <a:endParaRPr/>
          </a:p>
        </p:txBody>
      </p:sp>
      <p:pic>
        <p:nvPicPr>
          <p:cNvPr id="114" name="Google Shape;114;p15"/>
          <p:cNvPicPr preferRelativeResize="0"/>
          <p:nvPr/>
        </p:nvPicPr>
        <p:blipFill>
          <a:blip r:embed="rId8">
            <a:alphaModFix/>
          </a:blip>
          <a:stretch>
            <a:fillRect/>
          </a:stretch>
        </p:blipFill>
        <p:spPr>
          <a:xfrm>
            <a:off x="5810250" y="2618213"/>
            <a:ext cx="6226002" cy="2003375"/>
          </a:xfrm>
          <a:prstGeom prst="rect">
            <a:avLst/>
          </a:prstGeom>
          <a:noFill/>
          <a:ln>
            <a:noFill/>
          </a:ln>
        </p:spPr>
      </p:pic>
      <p:sp>
        <p:nvSpPr>
          <p:cNvPr id="115" name="Google Shape;115;p15"/>
          <p:cNvSpPr txBox="1"/>
          <p:nvPr/>
        </p:nvSpPr>
        <p:spPr>
          <a:xfrm>
            <a:off x="6381750" y="4892500"/>
            <a:ext cx="5679900" cy="585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600">
                <a:solidFill>
                  <a:srgbClr val="93C47D"/>
                </a:solidFill>
                <a:latin typeface="Calibri"/>
                <a:ea typeface="Calibri"/>
                <a:cs typeface="Calibri"/>
                <a:sym typeface="Calibri"/>
              </a:rPr>
              <a:t>https://www.joefleishmanart.com/</a:t>
            </a:r>
            <a:endParaRPr sz="2600">
              <a:solidFill>
                <a:srgbClr val="93C47D"/>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19" name="Shape 119"/>
        <p:cNvGrpSpPr/>
        <p:nvPr/>
      </p:nvGrpSpPr>
      <p:grpSpPr>
        <a:xfrm>
          <a:off x="0" y="0"/>
          <a:ext cx="0" cy="0"/>
          <a:chOff x="0" y="0"/>
          <a:chExt cx="0" cy="0"/>
        </a:xfrm>
      </p:grpSpPr>
      <p:pic>
        <p:nvPicPr>
          <p:cNvPr descr="image.png" id="120" name="Google Shape;120;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21" name="Google Shape;121;p16"/>
          <p:cNvPicPr preferRelativeResize="0"/>
          <p:nvPr/>
        </p:nvPicPr>
        <p:blipFill rotWithShape="1">
          <a:blip r:embed="rId4">
            <a:alphaModFix/>
          </a:blip>
          <a:srcRect b="0" l="0" r="0" t="0"/>
          <a:stretch/>
        </p:blipFill>
        <p:spPr>
          <a:xfrm>
            <a:off x="571500" y="1976437"/>
            <a:ext cx="5381625" cy="2381250"/>
          </a:xfrm>
          <a:prstGeom prst="rect">
            <a:avLst/>
          </a:prstGeom>
          <a:noFill/>
          <a:ln>
            <a:noFill/>
          </a:ln>
        </p:spPr>
      </p:pic>
      <p:pic>
        <p:nvPicPr>
          <p:cNvPr descr="image.png" id="122" name="Google Shape;122;p16"/>
          <p:cNvPicPr preferRelativeResize="0"/>
          <p:nvPr/>
        </p:nvPicPr>
        <p:blipFill rotWithShape="1">
          <a:blip r:embed="rId4">
            <a:alphaModFix/>
          </a:blip>
          <a:srcRect b="0" l="0" r="0" t="0"/>
          <a:stretch/>
        </p:blipFill>
        <p:spPr>
          <a:xfrm>
            <a:off x="6238875" y="1976437"/>
            <a:ext cx="5381625" cy="2381250"/>
          </a:xfrm>
          <a:prstGeom prst="rect">
            <a:avLst/>
          </a:prstGeom>
          <a:noFill/>
          <a:ln>
            <a:noFill/>
          </a:ln>
        </p:spPr>
      </p:pic>
      <p:sp>
        <p:nvSpPr>
          <p:cNvPr id="123" name="Google Shape;123;p16"/>
          <p:cNvSpPr txBox="1"/>
          <p:nvPr/>
        </p:nvSpPr>
        <p:spPr>
          <a:xfrm>
            <a:off x="571500" y="4500562"/>
            <a:ext cx="5650706"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DEFF9A"/>
                </a:solidFill>
                <a:latin typeface="Urbanist"/>
                <a:ea typeface="Urbanist"/>
                <a:cs typeface="Urbanist"/>
                <a:sym typeface="Urbanist"/>
              </a:rPr>
              <a:t>"Home Decor Hannah"</a:t>
            </a:r>
            <a:endParaRPr/>
          </a:p>
        </p:txBody>
      </p:sp>
      <p:sp>
        <p:nvSpPr>
          <p:cNvPr id="124" name="Google Shape;124;p16"/>
          <p:cNvSpPr txBox="1"/>
          <p:nvPr/>
        </p:nvSpPr>
        <p:spPr>
          <a:xfrm>
            <a:off x="571500" y="5300662"/>
            <a:ext cx="53816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Urbanist"/>
                <a:ea typeface="Urbanist"/>
                <a:cs typeface="Urbanist"/>
                <a:sym typeface="Urbanist"/>
              </a:rPr>
              <a:t>30-45, Homeowner. Uses Pinterest for mood boards. actively searches for "living room art" and "modern decor".</a:t>
            </a:r>
            <a:endParaRPr/>
          </a:p>
        </p:txBody>
      </p:sp>
      <p:sp>
        <p:nvSpPr>
          <p:cNvPr id="125" name="Google Shape;125;p16"/>
          <p:cNvSpPr txBox="1"/>
          <p:nvPr/>
        </p:nvSpPr>
        <p:spPr>
          <a:xfrm>
            <a:off x="6238875" y="4500562"/>
            <a:ext cx="5650706"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DEFF9A"/>
                </a:solidFill>
                <a:latin typeface="Urbanist"/>
                <a:ea typeface="Urbanist"/>
                <a:cs typeface="Urbanist"/>
                <a:sym typeface="Urbanist"/>
              </a:rPr>
              <a:t>"Office Designer Dana"</a:t>
            </a:r>
            <a:endParaRPr/>
          </a:p>
        </p:txBody>
      </p:sp>
      <p:sp>
        <p:nvSpPr>
          <p:cNvPr id="126" name="Google Shape;126;p16"/>
          <p:cNvSpPr txBox="1"/>
          <p:nvPr/>
        </p:nvSpPr>
        <p:spPr>
          <a:xfrm>
            <a:off x="6238875" y="5300662"/>
            <a:ext cx="5381625"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Urbanist"/>
                <a:ea typeface="Urbanist"/>
                <a:cs typeface="Urbanist"/>
                <a:sym typeface="Urbanist"/>
              </a:rPr>
              <a:t>35-55, Business Manager. Uses Reddit (r/Entrepreneur) for advice. Needs bulk orders and professional aesthetics.</a:t>
            </a:r>
            <a:endParaRPr/>
          </a:p>
        </p:txBody>
      </p:sp>
      <p:pic>
        <p:nvPicPr>
          <p:cNvPr descr="image.png" id="127" name="Google Shape;127;p16"/>
          <p:cNvPicPr preferRelativeResize="0"/>
          <p:nvPr/>
        </p:nvPicPr>
        <p:blipFill rotWithShape="1">
          <a:blip r:embed="rId5">
            <a:alphaModFix/>
          </a:blip>
          <a:srcRect b="0" l="0" r="0" t="0"/>
          <a:stretch/>
        </p:blipFill>
        <p:spPr>
          <a:xfrm>
            <a:off x="571500" y="1976437"/>
            <a:ext cx="5381625" cy="2381250"/>
          </a:xfrm>
          <a:prstGeom prst="rect">
            <a:avLst/>
          </a:prstGeom>
          <a:noFill/>
          <a:ln>
            <a:noFill/>
          </a:ln>
        </p:spPr>
      </p:pic>
      <p:pic>
        <p:nvPicPr>
          <p:cNvPr descr="image.png" id="128" name="Google Shape;128;p16"/>
          <p:cNvPicPr preferRelativeResize="0"/>
          <p:nvPr/>
        </p:nvPicPr>
        <p:blipFill rotWithShape="1">
          <a:blip r:embed="rId6">
            <a:alphaModFix/>
          </a:blip>
          <a:srcRect b="0" l="0" r="0" t="0"/>
          <a:stretch/>
        </p:blipFill>
        <p:spPr>
          <a:xfrm>
            <a:off x="6238875" y="1976437"/>
            <a:ext cx="5381625" cy="2381250"/>
          </a:xfrm>
          <a:prstGeom prst="rect">
            <a:avLst/>
          </a:prstGeom>
          <a:noFill/>
          <a:ln>
            <a:noFill/>
          </a:ln>
        </p:spPr>
      </p:pic>
      <p:sp>
        <p:nvSpPr>
          <p:cNvPr id="129" name="Google Shape;129;p16"/>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DEFF9A"/>
                </a:solidFill>
                <a:latin typeface="Urbanist"/>
                <a:ea typeface="Urbanist"/>
                <a:cs typeface="Urbanist"/>
                <a:sym typeface="Urbanist"/>
              </a:rPr>
              <a:t>Target Audience Personas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33" name="Shape 133"/>
        <p:cNvGrpSpPr/>
        <p:nvPr/>
      </p:nvGrpSpPr>
      <p:grpSpPr>
        <a:xfrm>
          <a:off x="0" y="0"/>
          <a:ext cx="0" cy="0"/>
          <a:chOff x="0" y="0"/>
          <a:chExt cx="0" cy="0"/>
        </a:xfrm>
      </p:grpSpPr>
      <p:pic>
        <p:nvPicPr>
          <p:cNvPr descr="image.png" id="134" name="Google Shape;134;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35" name="Google Shape;135;p17"/>
          <p:cNvPicPr preferRelativeResize="0"/>
          <p:nvPr/>
        </p:nvPicPr>
        <p:blipFill rotWithShape="1">
          <a:blip r:embed="rId4">
            <a:alphaModFix/>
          </a:blip>
          <a:srcRect b="0" l="0" r="0" t="0"/>
          <a:stretch/>
        </p:blipFill>
        <p:spPr>
          <a:xfrm>
            <a:off x="571500" y="2271712"/>
            <a:ext cx="5238750" cy="3533775"/>
          </a:xfrm>
          <a:prstGeom prst="rect">
            <a:avLst/>
          </a:prstGeom>
          <a:noFill/>
          <a:ln>
            <a:noFill/>
          </a:ln>
        </p:spPr>
      </p:pic>
      <p:pic>
        <p:nvPicPr>
          <p:cNvPr descr="image.png" id="136" name="Google Shape;136;p17"/>
          <p:cNvPicPr preferRelativeResize="0"/>
          <p:nvPr/>
        </p:nvPicPr>
        <p:blipFill rotWithShape="1">
          <a:blip r:embed="rId4">
            <a:alphaModFix/>
          </a:blip>
          <a:srcRect b="0" l="0" r="0" t="0"/>
          <a:stretch/>
        </p:blipFill>
        <p:spPr>
          <a:xfrm>
            <a:off x="6381750" y="2271712"/>
            <a:ext cx="5238750" cy="3533775"/>
          </a:xfrm>
          <a:prstGeom prst="rect">
            <a:avLst/>
          </a:prstGeom>
          <a:noFill/>
          <a:ln>
            <a:noFill/>
          </a:ln>
        </p:spPr>
      </p:pic>
      <p:sp>
        <p:nvSpPr>
          <p:cNvPr id="137" name="Google Shape;137;p17"/>
          <p:cNvSpPr txBox="1"/>
          <p:nvPr/>
        </p:nvSpPr>
        <p:spPr>
          <a:xfrm>
            <a:off x="962025" y="2814637"/>
            <a:ext cx="4680585" cy="323850"/>
          </a:xfrm>
          <a:prstGeom prst="rect">
            <a:avLst/>
          </a:prstGeom>
          <a:noFill/>
          <a:ln>
            <a:noFill/>
          </a:ln>
        </p:spPr>
        <p:txBody>
          <a:bodyPr anchorCtr="0" anchor="t" bIns="0" lIns="361950" spcFirstLastPara="1" rIns="0" wrap="square" tIns="0">
            <a:spAutoFit/>
          </a:bodyPr>
          <a:lstStyle/>
          <a:p>
            <a:pPr indent="0" lvl="0" marL="0" marR="0" rtl="0" algn="l">
              <a:spcBef>
                <a:spcPts val="0"/>
              </a:spcBef>
              <a:spcAft>
                <a:spcPts val="0"/>
              </a:spcAft>
              <a:buNone/>
            </a:pPr>
            <a:r>
              <a:rPr b="1" i="0" lang="en-US" sz="2100" u="none" cap="none" strike="noStrike">
                <a:solidFill>
                  <a:srgbClr val="DEFF9A"/>
                </a:solidFill>
                <a:latin typeface="Urbanist"/>
                <a:ea typeface="Urbanist"/>
                <a:cs typeface="Urbanist"/>
                <a:sym typeface="Urbanist"/>
              </a:rPr>
              <a:t> Reddit</a:t>
            </a:r>
            <a:endParaRPr/>
          </a:p>
        </p:txBody>
      </p:sp>
      <p:sp>
        <p:nvSpPr>
          <p:cNvPr id="138" name="Google Shape;138;p17"/>
          <p:cNvSpPr txBox="1"/>
          <p:nvPr/>
        </p:nvSpPr>
        <p:spPr>
          <a:xfrm>
            <a:off x="962025" y="3280987"/>
            <a:ext cx="4457700" cy="96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Why:</a:t>
            </a:r>
            <a:r>
              <a:rPr b="0" i="0" lang="en-US" sz="1500" u="none" cap="none" strike="noStrike">
                <a:solidFill>
                  <a:srgbClr val="CBD5E1"/>
                </a:solidFill>
                <a:latin typeface="Urbanist"/>
                <a:ea typeface="Urbanist"/>
                <a:cs typeface="Urbanist"/>
                <a:sym typeface="Urbanist"/>
              </a:rPr>
              <a:t> High purchase intent (e.g., "Where can I buy...")</a:t>
            </a:r>
            <a:br>
              <a:rPr lang="en-US" sz="1500">
                <a:solidFill>
                  <a:srgbClr val="CBD5E1"/>
                </a:solidFill>
                <a:latin typeface="Urbanist"/>
                <a:ea typeface="Urbanist"/>
                <a:cs typeface="Urbanist"/>
                <a:sym typeface="Urbanist"/>
              </a:rPr>
            </a:br>
            <a:r>
              <a:rPr lang="en-US" sz="1500">
                <a:solidFill>
                  <a:srgbClr val="CBD5E1"/>
                </a:solidFill>
                <a:latin typeface="Urbanist"/>
                <a:ea typeface="Urbanist"/>
                <a:cs typeface="Urbanist"/>
                <a:sym typeface="Urbanist"/>
              </a:rPr>
              <a:t>Very accessible API retrieval and varied sources of ideas.</a:t>
            </a:r>
            <a:endParaRPr/>
          </a:p>
        </p:txBody>
      </p:sp>
      <p:sp>
        <p:nvSpPr>
          <p:cNvPr id="139" name="Google Shape;139;p17"/>
          <p:cNvSpPr txBox="1"/>
          <p:nvPr/>
        </p:nvSpPr>
        <p:spPr>
          <a:xfrm>
            <a:off x="962025" y="4354687"/>
            <a:ext cx="4457700" cy="1323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Norms:</a:t>
            </a:r>
            <a:r>
              <a:rPr b="0" i="0" lang="en-US" sz="1500" u="none" cap="none" strike="noStrike">
                <a:solidFill>
                  <a:srgbClr val="CBD5E1"/>
                </a:solidFill>
                <a:latin typeface="Urbanist"/>
                <a:ea typeface="Urbanist"/>
                <a:cs typeface="Urbanist"/>
                <a:sym typeface="Urbanist"/>
              </a:rPr>
              <a:t> </a:t>
            </a:r>
            <a:r>
              <a:rPr lang="en-US" sz="1500">
                <a:solidFill>
                  <a:srgbClr val="CBD5E1"/>
                </a:solidFill>
                <a:latin typeface="Urbanist"/>
                <a:ea typeface="Urbanist"/>
                <a:cs typeface="Urbanist"/>
                <a:sym typeface="Urbanist"/>
              </a:rPr>
              <a:t>Subreddit</a:t>
            </a:r>
            <a:r>
              <a:rPr b="0" i="0" lang="en-US" sz="1500" u="none" cap="none" strike="noStrike">
                <a:solidFill>
                  <a:srgbClr val="CBD5E1"/>
                </a:solidFill>
                <a:latin typeface="Urbanist"/>
                <a:ea typeface="Urbanist"/>
                <a:cs typeface="Urbanist"/>
                <a:sym typeface="Urbanist"/>
              </a:rPr>
              <a:t> "No Self-Promotion" rules. Requires value-first engagement (advice/critique) and mandatory disclosure.</a:t>
            </a:r>
            <a:br>
              <a:rPr b="0" i="0" lang="en-US" sz="1500" u="none" cap="none" strike="noStrike">
                <a:solidFill>
                  <a:srgbClr val="CBD5E1"/>
                </a:solidFill>
                <a:latin typeface="Urbanist"/>
                <a:ea typeface="Urbanist"/>
                <a:cs typeface="Urbanist"/>
                <a:sym typeface="Urbanist"/>
              </a:rPr>
            </a:br>
            <a:endParaRPr/>
          </a:p>
        </p:txBody>
      </p:sp>
      <p:sp>
        <p:nvSpPr>
          <p:cNvPr id="140" name="Google Shape;140;p17"/>
          <p:cNvSpPr txBox="1"/>
          <p:nvPr/>
        </p:nvSpPr>
        <p:spPr>
          <a:xfrm>
            <a:off x="6772275" y="2662237"/>
            <a:ext cx="4680585" cy="323850"/>
          </a:xfrm>
          <a:prstGeom prst="rect">
            <a:avLst/>
          </a:prstGeom>
          <a:noFill/>
          <a:ln>
            <a:noFill/>
          </a:ln>
        </p:spPr>
        <p:txBody>
          <a:bodyPr anchorCtr="0" anchor="t" bIns="0" lIns="352425" spcFirstLastPara="1" rIns="0" wrap="square" tIns="0">
            <a:spAutoFit/>
          </a:bodyPr>
          <a:lstStyle/>
          <a:p>
            <a:pPr indent="0" lvl="0" marL="0" marR="0" rtl="0" algn="l">
              <a:spcBef>
                <a:spcPts val="0"/>
              </a:spcBef>
              <a:spcAft>
                <a:spcPts val="0"/>
              </a:spcAft>
              <a:buNone/>
            </a:pPr>
            <a:r>
              <a:rPr b="1" i="0" lang="en-US" sz="2100" u="none" cap="none" strike="noStrike">
                <a:solidFill>
                  <a:srgbClr val="DEFF9A"/>
                </a:solidFill>
                <a:latin typeface="Urbanist"/>
                <a:ea typeface="Urbanist"/>
                <a:cs typeface="Urbanist"/>
                <a:sym typeface="Urbanist"/>
              </a:rPr>
              <a:t> Pinterest</a:t>
            </a:r>
            <a:endParaRPr/>
          </a:p>
        </p:txBody>
      </p:sp>
      <p:sp>
        <p:nvSpPr>
          <p:cNvPr id="141" name="Google Shape;141;p17"/>
          <p:cNvSpPr txBox="1"/>
          <p:nvPr/>
        </p:nvSpPr>
        <p:spPr>
          <a:xfrm>
            <a:off x="6772275" y="3319462"/>
            <a:ext cx="44577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Why:</a:t>
            </a:r>
            <a:r>
              <a:rPr b="0" i="0" lang="en-US" sz="1500" u="none" cap="none" strike="noStrike">
                <a:solidFill>
                  <a:srgbClr val="CBD5E1"/>
                </a:solidFill>
                <a:latin typeface="Urbanist"/>
                <a:ea typeface="Urbanist"/>
                <a:cs typeface="Urbanist"/>
                <a:sym typeface="Urbanist"/>
              </a:rPr>
              <a:t> Visual discovery engine matching Joe's aesthetic.</a:t>
            </a:r>
            <a:endParaRPr/>
          </a:p>
        </p:txBody>
      </p:sp>
      <p:sp>
        <p:nvSpPr>
          <p:cNvPr id="142" name="Google Shape;142;p17"/>
          <p:cNvSpPr txBox="1"/>
          <p:nvPr/>
        </p:nvSpPr>
        <p:spPr>
          <a:xfrm>
            <a:off x="6772275" y="4310062"/>
            <a:ext cx="445770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Norms:</a:t>
            </a:r>
            <a:r>
              <a:rPr b="0" i="0" lang="en-US" sz="1500" u="none" cap="none" strike="noStrike">
                <a:solidFill>
                  <a:srgbClr val="CBD5E1"/>
                </a:solidFill>
                <a:latin typeface="Urbanist"/>
                <a:ea typeface="Urbanist"/>
                <a:cs typeface="Urbanist"/>
                <a:sym typeface="Urbanist"/>
              </a:rPr>
              <a:t> Visual-first. Content must be "How-to" or inspirational. Direct product links are acceptable if relevant.</a:t>
            </a:r>
            <a:endParaRPr/>
          </a:p>
        </p:txBody>
      </p:sp>
      <p:pic>
        <p:nvPicPr>
          <p:cNvPr descr="image.png" id="143" name="Google Shape;143;p17"/>
          <p:cNvPicPr preferRelativeResize="0"/>
          <p:nvPr/>
        </p:nvPicPr>
        <p:blipFill rotWithShape="1">
          <a:blip r:embed="rId5">
            <a:alphaModFix/>
          </a:blip>
          <a:srcRect b="0" l="0" r="0" t="0"/>
          <a:stretch/>
        </p:blipFill>
        <p:spPr>
          <a:xfrm>
            <a:off x="962025" y="2843212"/>
            <a:ext cx="266700" cy="266700"/>
          </a:xfrm>
          <a:prstGeom prst="rect">
            <a:avLst/>
          </a:prstGeom>
          <a:noFill/>
          <a:ln>
            <a:noFill/>
          </a:ln>
        </p:spPr>
      </p:pic>
      <p:pic>
        <p:nvPicPr>
          <p:cNvPr descr="image.png" id="144" name="Google Shape;144;p17"/>
          <p:cNvPicPr preferRelativeResize="0"/>
          <p:nvPr/>
        </p:nvPicPr>
        <p:blipFill rotWithShape="1">
          <a:blip r:embed="rId6">
            <a:alphaModFix/>
          </a:blip>
          <a:srcRect b="0" l="0" r="0" t="0"/>
          <a:stretch/>
        </p:blipFill>
        <p:spPr>
          <a:xfrm>
            <a:off x="6772275" y="2690812"/>
            <a:ext cx="257175" cy="266700"/>
          </a:xfrm>
          <a:prstGeom prst="rect">
            <a:avLst/>
          </a:prstGeom>
          <a:noFill/>
          <a:ln>
            <a:noFill/>
          </a:ln>
        </p:spPr>
      </p:pic>
      <p:sp>
        <p:nvSpPr>
          <p:cNvPr id="145" name="Google Shape;145;p17"/>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DEFF9A"/>
                </a:solidFill>
                <a:latin typeface="Urbanist"/>
                <a:ea typeface="Urbanist"/>
                <a:cs typeface="Urbanist"/>
                <a:sym typeface="Urbanist"/>
              </a:rPr>
              <a:t>Platform Strategy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49" name="Shape 149"/>
        <p:cNvGrpSpPr/>
        <p:nvPr/>
      </p:nvGrpSpPr>
      <p:grpSpPr>
        <a:xfrm>
          <a:off x="0" y="0"/>
          <a:ext cx="0" cy="0"/>
          <a:chOff x="0" y="0"/>
          <a:chExt cx="0" cy="0"/>
        </a:xfrm>
      </p:grpSpPr>
      <p:pic>
        <p:nvPicPr>
          <p:cNvPr descr="image.png" id="150" name="Google Shape;150;p18"/>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51" name="Google Shape;151;p18"/>
          <p:cNvSpPr txBox="1"/>
          <p:nvPr/>
        </p:nvSpPr>
        <p:spPr>
          <a:xfrm>
            <a:off x="571500" y="571500"/>
            <a:ext cx="52006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DEFF9A"/>
                </a:solidFill>
                <a:latin typeface="Urbanist"/>
                <a:ea typeface="Urbanist"/>
                <a:cs typeface="Urbanist"/>
                <a:sym typeface="Urbanist"/>
              </a:rPr>
              <a:t>System Architecture</a:t>
            </a:r>
            <a:endParaRPr/>
          </a:p>
        </p:txBody>
      </p:sp>
      <p:pic>
        <p:nvPicPr>
          <p:cNvPr descr="image.png" id="152" name="Google Shape;152;p18"/>
          <p:cNvPicPr preferRelativeResize="0"/>
          <p:nvPr/>
        </p:nvPicPr>
        <p:blipFill rotWithShape="1">
          <a:blip r:embed="rId4">
            <a:alphaModFix/>
          </a:blip>
          <a:srcRect b="0" l="0" r="0" t="0"/>
          <a:stretch/>
        </p:blipFill>
        <p:spPr>
          <a:xfrm>
            <a:off x="6096000" y="0"/>
            <a:ext cx="6096000" cy="6858000"/>
          </a:xfrm>
          <a:prstGeom prst="rect">
            <a:avLst/>
          </a:prstGeom>
          <a:noFill/>
          <a:ln>
            <a:noFill/>
          </a:ln>
        </p:spPr>
      </p:pic>
      <p:sp>
        <p:nvSpPr>
          <p:cNvPr id="153" name="Google Shape;153;p18"/>
          <p:cNvSpPr txBox="1"/>
          <p:nvPr/>
        </p:nvSpPr>
        <p:spPr>
          <a:xfrm>
            <a:off x="571500" y="1676400"/>
            <a:ext cx="5200650"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DEFF9A"/>
                </a:solidFill>
                <a:latin typeface="Urbanist"/>
                <a:ea typeface="Urbanist"/>
                <a:cs typeface="Urbanist"/>
                <a:sym typeface="Urbanist"/>
              </a:rPr>
              <a:t>Human-in-the-Loop Design</a:t>
            </a:r>
            <a:endParaRPr/>
          </a:p>
        </p:txBody>
      </p:sp>
      <p:sp>
        <p:nvSpPr>
          <p:cNvPr id="154" name="Google Shape;154;p18"/>
          <p:cNvSpPr txBox="1"/>
          <p:nvPr/>
        </p:nvSpPr>
        <p:spPr>
          <a:xfrm>
            <a:off x="571500" y="2333625"/>
            <a:ext cx="49530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Urbanist"/>
                <a:ea typeface="Urbanist"/>
                <a:cs typeface="Urbanist"/>
                <a:sym typeface="Urbanist"/>
              </a:rPr>
              <a:t>The system is designed in three distinct phases to ensure ethical compliance and control:</a:t>
            </a:r>
            <a:endParaRPr/>
          </a:p>
        </p:txBody>
      </p:sp>
      <p:sp>
        <p:nvSpPr>
          <p:cNvPr id="155" name="Google Shape;155;p18"/>
          <p:cNvSpPr txBox="1"/>
          <p:nvPr/>
        </p:nvSpPr>
        <p:spPr>
          <a:xfrm>
            <a:off x="1333500" y="3324225"/>
            <a:ext cx="41910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1. Ingestion:</a:t>
            </a:r>
            <a:r>
              <a:rPr b="0" i="0" lang="en-US" sz="1500" u="none" cap="none" strike="noStrike">
                <a:solidFill>
                  <a:srgbClr val="CBD5E1"/>
                </a:solidFill>
                <a:latin typeface="Urbanist"/>
                <a:ea typeface="Urbanist"/>
                <a:cs typeface="Urbanist"/>
                <a:sym typeface="Urbanist"/>
              </a:rPr>
              <a:t> Ethical monitoring via Reddit API and Pinterest Scraping.</a:t>
            </a:r>
            <a:endParaRPr/>
          </a:p>
        </p:txBody>
      </p:sp>
      <p:sp>
        <p:nvSpPr>
          <p:cNvPr id="156" name="Google Shape;156;p18"/>
          <p:cNvSpPr txBox="1"/>
          <p:nvPr/>
        </p:nvSpPr>
        <p:spPr>
          <a:xfrm>
            <a:off x="1333500" y="4171950"/>
            <a:ext cx="41910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2. Analysis:</a:t>
            </a:r>
            <a:r>
              <a:rPr b="0" i="0" lang="en-US" sz="1500" u="none" cap="none" strike="noStrike">
                <a:solidFill>
                  <a:srgbClr val="CBD5E1"/>
                </a:solidFill>
                <a:latin typeface="Urbanist"/>
                <a:ea typeface="Urbanist"/>
                <a:cs typeface="Urbanist"/>
                <a:sym typeface="Urbanist"/>
              </a:rPr>
              <a:t> AI scores leads for intent and drafts responses.</a:t>
            </a:r>
            <a:endParaRPr/>
          </a:p>
        </p:txBody>
      </p:sp>
      <p:sp>
        <p:nvSpPr>
          <p:cNvPr id="157" name="Google Shape;157;p18"/>
          <p:cNvSpPr txBox="1"/>
          <p:nvPr/>
        </p:nvSpPr>
        <p:spPr>
          <a:xfrm>
            <a:off x="1333500" y="5019675"/>
            <a:ext cx="41910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3. Action:</a:t>
            </a:r>
            <a:r>
              <a:rPr b="0" i="0" lang="en-US" sz="1500" u="none" cap="none" strike="noStrike">
                <a:solidFill>
                  <a:srgbClr val="CBD5E1"/>
                </a:solidFill>
                <a:latin typeface="Urbanist"/>
                <a:ea typeface="Urbanist"/>
                <a:cs typeface="Urbanist"/>
                <a:sym typeface="Urbanist"/>
              </a:rPr>
              <a:t> Joe reviews and approves on the dashboard. </a:t>
            </a:r>
            <a:r>
              <a:rPr lang="en-US" sz="1500">
                <a:solidFill>
                  <a:srgbClr val="CBD5E1"/>
                </a:solidFill>
                <a:latin typeface="Urbanist"/>
                <a:ea typeface="Urbanist"/>
                <a:cs typeface="Urbanist"/>
                <a:sym typeface="Urbanist"/>
              </a:rPr>
              <a:t>The final approval. </a:t>
            </a:r>
            <a:endParaRPr/>
          </a:p>
        </p:txBody>
      </p:sp>
      <p:pic>
        <p:nvPicPr>
          <p:cNvPr descr="image.png" id="158" name="Google Shape;158;p18"/>
          <p:cNvPicPr preferRelativeResize="0"/>
          <p:nvPr/>
        </p:nvPicPr>
        <p:blipFill rotWithShape="1">
          <a:blip r:embed="rId5">
            <a:alphaModFix/>
          </a:blip>
          <a:srcRect b="0" l="0" r="0" t="0"/>
          <a:stretch/>
        </p:blipFill>
        <p:spPr>
          <a:xfrm>
            <a:off x="952500" y="3362325"/>
            <a:ext cx="200025" cy="228600"/>
          </a:xfrm>
          <a:prstGeom prst="rect">
            <a:avLst/>
          </a:prstGeom>
          <a:noFill/>
          <a:ln>
            <a:noFill/>
          </a:ln>
        </p:spPr>
      </p:pic>
      <p:pic>
        <p:nvPicPr>
          <p:cNvPr descr="image.png" id="159" name="Google Shape;159;p18"/>
          <p:cNvPicPr preferRelativeResize="0"/>
          <p:nvPr/>
        </p:nvPicPr>
        <p:blipFill rotWithShape="1">
          <a:blip r:embed="rId5">
            <a:alphaModFix/>
          </a:blip>
          <a:srcRect b="0" l="0" r="0" t="0"/>
          <a:stretch/>
        </p:blipFill>
        <p:spPr>
          <a:xfrm>
            <a:off x="952500" y="4210050"/>
            <a:ext cx="200025" cy="228600"/>
          </a:xfrm>
          <a:prstGeom prst="rect">
            <a:avLst/>
          </a:prstGeom>
          <a:noFill/>
          <a:ln>
            <a:noFill/>
          </a:ln>
        </p:spPr>
      </p:pic>
      <p:pic>
        <p:nvPicPr>
          <p:cNvPr descr="image.png" id="160" name="Google Shape;160;p18"/>
          <p:cNvPicPr preferRelativeResize="0"/>
          <p:nvPr/>
        </p:nvPicPr>
        <p:blipFill rotWithShape="1">
          <a:blip r:embed="rId5">
            <a:alphaModFix/>
          </a:blip>
          <a:srcRect b="0" l="0" r="0" t="0"/>
          <a:stretch/>
        </p:blipFill>
        <p:spPr>
          <a:xfrm>
            <a:off x="952500" y="5057775"/>
            <a:ext cx="200025" cy="228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64" name="Shape 164"/>
        <p:cNvGrpSpPr/>
        <p:nvPr/>
      </p:nvGrpSpPr>
      <p:grpSpPr>
        <a:xfrm>
          <a:off x="0" y="0"/>
          <a:ext cx="0" cy="0"/>
          <a:chOff x="0" y="0"/>
          <a:chExt cx="0" cy="0"/>
        </a:xfrm>
      </p:grpSpPr>
      <p:pic>
        <p:nvPicPr>
          <p:cNvPr descr="image.png" id="165" name="Google Shape;165;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66" name="Google Shape;166;p19"/>
          <p:cNvPicPr preferRelativeResize="0"/>
          <p:nvPr/>
        </p:nvPicPr>
        <p:blipFill rotWithShape="1">
          <a:blip r:embed="rId4">
            <a:alphaModFix/>
          </a:blip>
          <a:srcRect b="0" l="0" r="0" t="0"/>
          <a:stretch/>
        </p:blipFill>
        <p:spPr>
          <a:xfrm>
            <a:off x="571500" y="2352675"/>
            <a:ext cx="3492549" cy="3371850"/>
          </a:xfrm>
          <a:prstGeom prst="rect">
            <a:avLst/>
          </a:prstGeom>
          <a:noFill/>
          <a:ln>
            <a:noFill/>
          </a:ln>
        </p:spPr>
      </p:pic>
      <p:pic>
        <p:nvPicPr>
          <p:cNvPr descr="image.png" id="167" name="Google Shape;167;p19"/>
          <p:cNvPicPr preferRelativeResize="0"/>
          <p:nvPr/>
        </p:nvPicPr>
        <p:blipFill rotWithShape="1">
          <a:blip r:embed="rId5">
            <a:alphaModFix/>
          </a:blip>
          <a:srcRect b="0" l="0" r="0" t="0"/>
          <a:stretch/>
        </p:blipFill>
        <p:spPr>
          <a:xfrm>
            <a:off x="4349799" y="2352675"/>
            <a:ext cx="3492549" cy="3371850"/>
          </a:xfrm>
          <a:prstGeom prst="rect">
            <a:avLst/>
          </a:prstGeom>
          <a:noFill/>
          <a:ln>
            <a:noFill/>
          </a:ln>
        </p:spPr>
      </p:pic>
      <p:pic>
        <p:nvPicPr>
          <p:cNvPr descr="image.png" id="168" name="Google Shape;168;p19"/>
          <p:cNvPicPr preferRelativeResize="0"/>
          <p:nvPr/>
        </p:nvPicPr>
        <p:blipFill rotWithShape="1">
          <a:blip r:embed="rId6">
            <a:alphaModFix/>
          </a:blip>
          <a:srcRect b="0" l="0" r="0" t="0"/>
          <a:stretch/>
        </p:blipFill>
        <p:spPr>
          <a:xfrm>
            <a:off x="8128099" y="2352675"/>
            <a:ext cx="3492549" cy="3371850"/>
          </a:xfrm>
          <a:prstGeom prst="rect">
            <a:avLst/>
          </a:prstGeom>
          <a:noFill/>
          <a:ln>
            <a:noFill/>
          </a:ln>
        </p:spPr>
      </p:pic>
      <p:sp>
        <p:nvSpPr>
          <p:cNvPr id="169" name="Google Shape;169;p19"/>
          <p:cNvSpPr txBox="1"/>
          <p:nvPr/>
        </p:nvSpPr>
        <p:spPr>
          <a:xfrm>
            <a:off x="1872644" y="3362325"/>
            <a:ext cx="890111" cy="3238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DEFF9A"/>
                </a:solidFill>
                <a:latin typeface="Urbanist"/>
                <a:ea typeface="Urbanist"/>
                <a:cs typeface="Urbanist"/>
                <a:sym typeface="Urbanist"/>
              </a:rPr>
              <a:t>Python</a:t>
            </a:r>
            <a:endParaRPr/>
          </a:p>
        </p:txBody>
      </p:sp>
      <p:sp>
        <p:nvSpPr>
          <p:cNvPr id="170" name="Google Shape;170;p19"/>
          <p:cNvSpPr txBox="1"/>
          <p:nvPr/>
        </p:nvSpPr>
        <p:spPr>
          <a:xfrm>
            <a:off x="866775" y="4019550"/>
            <a:ext cx="2901999" cy="12192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CBD5E1"/>
                </a:solidFill>
                <a:latin typeface="Urbanist"/>
                <a:ea typeface="Urbanist"/>
                <a:cs typeface="Urbanist"/>
                <a:sym typeface="Urbanist"/>
              </a:rPr>
              <a:t>The core engine. Chosen for robust data processing, PRAW API support, and seamless AI integration.</a:t>
            </a:r>
            <a:endParaRPr/>
          </a:p>
        </p:txBody>
      </p:sp>
      <p:sp>
        <p:nvSpPr>
          <p:cNvPr id="171" name="Google Shape;171;p19"/>
          <p:cNvSpPr txBox="1"/>
          <p:nvPr/>
        </p:nvSpPr>
        <p:spPr>
          <a:xfrm>
            <a:off x="5500925" y="3362325"/>
            <a:ext cx="1190148" cy="3238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DEFF9A"/>
                </a:solidFill>
                <a:latin typeface="Urbanist"/>
                <a:ea typeface="Urbanist"/>
                <a:cs typeface="Urbanist"/>
                <a:sym typeface="Urbanist"/>
              </a:rPr>
              <a:t>Streamlit</a:t>
            </a:r>
            <a:endParaRPr/>
          </a:p>
        </p:txBody>
      </p:sp>
      <p:sp>
        <p:nvSpPr>
          <p:cNvPr id="172" name="Google Shape;172;p19"/>
          <p:cNvSpPr txBox="1"/>
          <p:nvPr/>
        </p:nvSpPr>
        <p:spPr>
          <a:xfrm>
            <a:off x="4645074" y="4019550"/>
            <a:ext cx="2901999" cy="12192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CBD5E1"/>
                </a:solidFill>
                <a:latin typeface="Urbanist"/>
                <a:ea typeface="Urbanist"/>
                <a:cs typeface="Urbanist"/>
                <a:sym typeface="Urbanist"/>
              </a:rPr>
              <a:t>The user interface. Provides a simple, zero-friction dashboard for the artist without complex frontend code.</a:t>
            </a:r>
            <a:endParaRPr/>
          </a:p>
        </p:txBody>
      </p:sp>
      <p:sp>
        <p:nvSpPr>
          <p:cNvPr id="173" name="Google Shape;173;p19"/>
          <p:cNvSpPr txBox="1"/>
          <p:nvPr/>
        </p:nvSpPr>
        <p:spPr>
          <a:xfrm>
            <a:off x="9309228" y="3362325"/>
            <a:ext cx="1130141" cy="32385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2100" u="none" cap="none" strike="noStrike">
                <a:solidFill>
                  <a:srgbClr val="DEFF9A"/>
                </a:solidFill>
                <a:latin typeface="Urbanist"/>
                <a:ea typeface="Urbanist"/>
                <a:cs typeface="Urbanist"/>
                <a:sym typeface="Urbanist"/>
              </a:rPr>
              <a:t>LLM (AI)</a:t>
            </a:r>
            <a:endParaRPr/>
          </a:p>
        </p:txBody>
      </p:sp>
      <p:sp>
        <p:nvSpPr>
          <p:cNvPr id="174" name="Google Shape;174;p19"/>
          <p:cNvSpPr txBox="1"/>
          <p:nvPr/>
        </p:nvSpPr>
        <p:spPr>
          <a:xfrm>
            <a:off x="8423374" y="4019550"/>
            <a:ext cx="2901999" cy="9144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CBD5E1"/>
                </a:solidFill>
                <a:latin typeface="Urbanist"/>
                <a:ea typeface="Urbanist"/>
                <a:cs typeface="Urbanist"/>
                <a:sym typeface="Urbanist"/>
              </a:rPr>
              <a:t>The intelligence. GPT-4 or Claude 3 used for sentiment analysis, scoring, and brand voice drafting.</a:t>
            </a:r>
            <a:endParaRPr/>
          </a:p>
        </p:txBody>
      </p:sp>
      <p:pic>
        <p:nvPicPr>
          <p:cNvPr descr="image.png" id="175" name="Google Shape;175;p19"/>
          <p:cNvPicPr preferRelativeResize="0"/>
          <p:nvPr/>
        </p:nvPicPr>
        <p:blipFill rotWithShape="1">
          <a:blip r:embed="rId7">
            <a:alphaModFix/>
          </a:blip>
          <a:srcRect b="0" l="0" r="0" t="0"/>
          <a:stretch/>
        </p:blipFill>
        <p:spPr>
          <a:xfrm>
            <a:off x="2117675" y="2667000"/>
            <a:ext cx="400050" cy="457200"/>
          </a:xfrm>
          <a:prstGeom prst="rect">
            <a:avLst/>
          </a:prstGeom>
          <a:noFill/>
          <a:ln>
            <a:noFill/>
          </a:ln>
        </p:spPr>
      </p:pic>
      <p:pic>
        <p:nvPicPr>
          <p:cNvPr descr="image.png" id="176" name="Google Shape;176;p19"/>
          <p:cNvPicPr preferRelativeResize="0"/>
          <p:nvPr/>
        </p:nvPicPr>
        <p:blipFill rotWithShape="1">
          <a:blip r:embed="rId8">
            <a:alphaModFix/>
          </a:blip>
          <a:srcRect b="0" l="0" r="0" t="0"/>
          <a:stretch/>
        </p:blipFill>
        <p:spPr>
          <a:xfrm>
            <a:off x="5810250" y="2667000"/>
            <a:ext cx="571500" cy="457200"/>
          </a:xfrm>
          <a:prstGeom prst="rect">
            <a:avLst/>
          </a:prstGeom>
          <a:noFill/>
          <a:ln>
            <a:noFill/>
          </a:ln>
        </p:spPr>
      </p:pic>
      <p:pic>
        <p:nvPicPr>
          <p:cNvPr descr="image.png" id="177" name="Google Shape;177;p19"/>
          <p:cNvPicPr preferRelativeResize="0"/>
          <p:nvPr/>
        </p:nvPicPr>
        <p:blipFill rotWithShape="1">
          <a:blip r:embed="rId9">
            <a:alphaModFix/>
          </a:blip>
          <a:srcRect b="0" l="0" r="0" t="0"/>
          <a:stretch/>
        </p:blipFill>
        <p:spPr>
          <a:xfrm>
            <a:off x="9645699" y="2667000"/>
            <a:ext cx="457200" cy="457200"/>
          </a:xfrm>
          <a:prstGeom prst="rect">
            <a:avLst/>
          </a:prstGeom>
          <a:noFill/>
          <a:ln>
            <a:noFill/>
          </a:ln>
        </p:spPr>
      </p:pic>
      <p:sp>
        <p:nvSpPr>
          <p:cNvPr id="178" name="Google Shape;178;p19"/>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DEFF9A"/>
                </a:solidFill>
                <a:latin typeface="Urbanist"/>
                <a:ea typeface="Urbanist"/>
                <a:cs typeface="Urbanist"/>
                <a:sym typeface="Urbanist"/>
              </a:rPr>
              <a:t>Technology Stack</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82" name="Shape 182"/>
        <p:cNvGrpSpPr/>
        <p:nvPr/>
      </p:nvGrpSpPr>
      <p:grpSpPr>
        <a:xfrm>
          <a:off x="0" y="0"/>
          <a:ext cx="0" cy="0"/>
          <a:chOff x="0" y="0"/>
          <a:chExt cx="0" cy="0"/>
        </a:xfrm>
      </p:grpSpPr>
      <p:pic>
        <p:nvPicPr>
          <p:cNvPr descr="image.png" id="183" name="Google Shape;183;p20"/>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84" name="Google Shape;184;p20"/>
          <p:cNvSpPr txBox="1"/>
          <p:nvPr/>
        </p:nvSpPr>
        <p:spPr>
          <a:xfrm>
            <a:off x="571500" y="2828925"/>
            <a:ext cx="5500687"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DEFF9A"/>
                </a:solidFill>
                <a:latin typeface="Urbanist"/>
                <a:ea typeface="Urbanist"/>
                <a:cs typeface="Urbanist"/>
                <a:sym typeface="Urbanist"/>
              </a:rPr>
              <a:t>Intelligent Filtering</a:t>
            </a:r>
            <a:endParaRPr/>
          </a:p>
        </p:txBody>
      </p:sp>
      <p:sp>
        <p:nvSpPr>
          <p:cNvPr id="185" name="Google Shape;185;p20"/>
          <p:cNvSpPr txBox="1"/>
          <p:nvPr/>
        </p:nvSpPr>
        <p:spPr>
          <a:xfrm>
            <a:off x="571500" y="3343275"/>
            <a:ext cx="523875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Urbanist"/>
                <a:ea typeface="Urbanist"/>
                <a:cs typeface="Urbanist"/>
                <a:sym typeface="Urbanist"/>
              </a:rPr>
              <a:t>We don't just look for keywords; we look for </a:t>
            </a:r>
            <a:r>
              <a:rPr b="1" i="0" lang="en-US" sz="1500" u="none" cap="none" strike="noStrike">
                <a:solidFill>
                  <a:srgbClr val="CBD5E1"/>
                </a:solidFill>
                <a:latin typeface="Urbanist"/>
                <a:ea typeface="Urbanist"/>
                <a:cs typeface="Urbanist"/>
                <a:sym typeface="Urbanist"/>
              </a:rPr>
              <a:t>intent</a:t>
            </a:r>
            <a:r>
              <a:rPr b="0" i="0" lang="en-US" sz="1500" u="none" cap="none" strike="noStrike">
                <a:solidFill>
                  <a:srgbClr val="CBD5E1"/>
                </a:solidFill>
                <a:latin typeface="Urbanist"/>
                <a:ea typeface="Urbanist"/>
                <a:cs typeface="Urbanist"/>
                <a:sym typeface="Urbanist"/>
              </a:rPr>
              <a:t>.</a:t>
            </a:r>
            <a:endParaRPr/>
          </a:p>
        </p:txBody>
      </p:sp>
      <p:sp>
        <p:nvSpPr>
          <p:cNvPr id="186" name="Google Shape;186;p20"/>
          <p:cNvSpPr txBox="1"/>
          <p:nvPr/>
        </p:nvSpPr>
        <p:spPr>
          <a:xfrm>
            <a:off x="571500" y="3838575"/>
            <a:ext cx="5238900" cy="17085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Urbanist"/>
                <a:ea typeface="Urbanist"/>
                <a:cs typeface="Urbanist"/>
                <a:sym typeface="Urbanist"/>
              </a:rPr>
              <a:t>The Monitoring Engine uses PRAW to fetch discussions. The AI then evaluates each post using a "Relevance Score" (0-10) based on Joe's brand keywords and a "Purchase Intent Score" (0-10) based on user language. Then J</a:t>
            </a:r>
            <a:r>
              <a:rPr lang="en-US" sz="1500">
                <a:solidFill>
                  <a:srgbClr val="CBD5E1"/>
                </a:solidFill>
                <a:latin typeface="Urbanist"/>
                <a:ea typeface="Urbanist"/>
                <a:cs typeface="Urbanist"/>
                <a:sym typeface="Urbanist"/>
              </a:rPr>
              <a:t>oe can review and assess clients. </a:t>
            </a:r>
            <a:endParaRPr/>
          </a:p>
        </p:txBody>
      </p:sp>
      <p:sp>
        <p:nvSpPr>
          <p:cNvPr id="187" name="Google Shape;187;p20"/>
          <p:cNvSpPr txBox="1"/>
          <p:nvPr/>
        </p:nvSpPr>
        <p:spPr>
          <a:xfrm>
            <a:off x="6381750" y="2828925"/>
            <a:ext cx="5500687"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DEFF9A"/>
                </a:solidFill>
                <a:latin typeface="Urbanist"/>
                <a:ea typeface="Urbanist"/>
                <a:cs typeface="Urbanist"/>
                <a:sym typeface="Urbanist"/>
              </a:rPr>
              <a:t>Prompt Engineering</a:t>
            </a:r>
            <a:endParaRPr/>
          </a:p>
        </p:txBody>
      </p:sp>
      <p:sp>
        <p:nvSpPr>
          <p:cNvPr id="188" name="Google Shape;188;p20"/>
          <p:cNvSpPr txBox="1"/>
          <p:nvPr/>
        </p:nvSpPr>
        <p:spPr>
          <a:xfrm>
            <a:off x="6381750" y="3343275"/>
            <a:ext cx="523875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Goal:</a:t>
            </a:r>
            <a:r>
              <a:rPr b="0" i="0" lang="en-US" sz="1500" u="none" cap="none" strike="noStrike">
                <a:solidFill>
                  <a:srgbClr val="CBD5E1"/>
                </a:solidFill>
                <a:latin typeface="Urbanist"/>
                <a:ea typeface="Urbanist"/>
                <a:cs typeface="Urbanist"/>
                <a:sym typeface="Urbanist"/>
              </a:rPr>
              <a:t> Authentic Engagement.</a:t>
            </a:r>
            <a:endParaRPr/>
          </a:p>
        </p:txBody>
      </p:sp>
      <p:sp>
        <p:nvSpPr>
          <p:cNvPr id="189" name="Google Shape;189;p20"/>
          <p:cNvSpPr txBox="1"/>
          <p:nvPr/>
        </p:nvSpPr>
        <p:spPr>
          <a:xfrm>
            <a:off x="6381750" y="3838575"/>
            <a:ext cx="5238750" cy="12192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Urbanist"/>
                <a:ea typeface="Urbanist"/>
                <a:cs typeface="Urbanist"/>
                <a:sym typeface="Urbanist"/>
              </a:rPr>
              <a:t>Our prompt instructs the LLM to adopt a "Value-First, Educational" tone. It is explicitly forbidden from generating "salesy" spam. It drafts a helpful response that provides context before subtly linking a specific, relevant collection.</a:t>
            </a:r>
            <a:endParaRPr/>
          </a:p>
        </p:txBody>
      </p:sp>
      <p:sp>
        <p:nvSpPr>
          <p:cNvPr id="190" name="Google Shape;190;p20"/>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DEFF9A"/>
                </a:solidFill>
                <a:latin typeface="Urbanist"/>
                <a:ea typeface="Urbanist"/>
                <a:cs typeface="Urbanist"/>
                <a:sym typeface="Urbanist"/>
              </a:rPr>
              <a:t>Monitoring &amp; AI Analysis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94" name="Shape 194"/>
        <p:cNvGrpSpPr/>
        <p:nvPr/>
      </p:nvGrpSpPr>
      <p:grpSpPr>
        <a:xfrm>
          <a:off x="0" y="0"/>
          <a:ext cx="0" cy="0"/>
          <a:chOff x="0" y="0"/>
          <a:chExt cx="0" cy="0"/>
        </a:xfrm>
      </p:grpSpPr>
      <p:pic>
        <p:nvPicPr>
          <p:cNvPr descr="image.png" id="195" name="Google Shape;195;p2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96" name="Google Shape;196;p21"/>
          <p:cNvSpPr txBox="1"/>
          <p:nvPr/>
        </p:nvSpPr>
        <p:spPr>
          <a:xfrm>
            <a:off x="571500" y="571500"/>
            <a:ext cx="52006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DEFF9A"/>
                </a:solidFill>
                <a:latin typeface="Urbanist"/>
                <a:ea typeface="Urbanist"/>
                <a:cs typeface="Urbanist"/>
                <a:sym typeface="Urbanist"/>
              </a:rPr>
              <a:t>Artist Workflow</a:t>
            </a:r>
            <a:endParaRPr/>
          </a:p>
        </p:txBody>
      </p:sp>
      <p:pic>
        <p:nvPicPr>
          <p:cNvPr descr="image.png" id="197" name="Google Shape;197;p21"/>
          <p:cNvPicPr preferRelativeResize="0"/>
          <p:nvPr/>
        </p:nvPicPr>
        <p:blipFill rotWithShape="1">
          <a:blip r:embed="rId4">
            <a:alphaModFix/>
          </a:blip>
          <a:srcRect b="0" l="0" r="0" t="0"/>
          <a:stretch/>
        </p:blipFill>
        <p:spPr>
          <a:xfrm>
            <a:off x="6096000" y="0"/>
            <a:ext cx="6096000" cy="6858000"/>
          </a:xfrm>
          <a:prstGeom prst="rect">
            <a:avLst/>
          </a:prstGeom>
          <a:noFill/>
          <a:ln>
            <a:noFill/>
          </a:ln>
        </p:spPr>
      </p:pic>
      <p:sp>
        <p:nvSpPr>
          <p:cNvPr id="198" name="Google Shape;198;p21"/>
          <p:cNvSpPr txBox="1"/>
          <p:nvPr/>
        </p:nvSpPr>
        <p:spPr>
          <a:xfrm>
            <a:off x="571500" y="1981200"/>
            <a:ext cx="5200650"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DEFF9A"/>
                </a:solidFill>
                <a:latin typeface="Urbanist"/>
                <a:ea typeface="Urbanist"/>
                <a:cs typeface="Urbanist"/>
                <a:sym typeface="Urbanist"/>
              </a:rPr>
              <a:t>Zero-Friction Approval</a:t>
            </a:r>
            <a:endParaRPr/>
          </a:p>
        </p:txBody>
      </p:sp>
      <p:sp>
        <p:nvSpPr>
          <p:cNvPr id="199" name="Google Shape;199;p21"/>
          <p:cNvSpPr txBox="1"/>
          <p:nvPr/>
        </p:nvSpPr>
        <p:spPr>
          <a:xfrm>
            <a:off x="571500" y="2638425"/>
            <a:ext cx="49530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CBD5E1"/>
                </a:solidFill>
                <a:latin typeface="Urbanist"/>
                <a:ea typeface="Urbanist"/>
                <a:cs typeface="Urbanist"/>
                <a:sym typeface="Urbanist"/>
              </a:rPr>
              <a:t>The Streamlit dashboard simplifies the process into three steps, taking seconds per lead:</a:t>
            </a:r>
            <a:endParaRPr/>
          </a:p>
        </p:txBody>
      </p:sp>
      <p:sp>
        <p:nvSpPr>
          <p:cNvPr id="200" name="Google Shape;200;p21"/>
          <p:cNvSpPr txBox="1"/>
          <p:nvPr/>
        </p:nvSpPr>
        <p:spPr>
          <a:xfrm>
            <a:off x="1333500" y="3629025"/>
            <a:ext cx="41910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Alert:</a:t>
            </a:r>
            <a:r>
              <a:rPr b="0" i="0" lang="en-US" sz="1500" u="none" cap="none" strike="noStrike">
                <a:solidFill>
                  <a:srgbClr val="CBD5E1"/>
                </a:solidFill>
                <a:latin typeface="Urbanist"/>
                <a:ea typeface="Urbanist"/>
                <a:cs typeface="Urbanist"/>
                <a:sym typeface="Urbanist"/>
              </a:rPr>
              <a:t> View prioritized, high-scoring opportunities.</a:t>
            </a:r>
            <a:endParaRPr/>
          </a:p>
        </p:txBody>
      </p:sp>
      <p:sp>
        <p:nvSpPr>
          <p:cNvPr id="201" name="Google Shape;201;p21"/>
          <p:cNvSpPr txBox="1"/>
          <p:nvPr/>
        </p:nvSpPr>
        <p:spPr>
          <a:xfrm>
            <a:off x="1333500" y="4171950"/>
            <a:ext cx="41910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Review:</a:t>
            </a:r>
            <a:r>
              <a:rPr b="0" i="0" lang="en-US" sz="1500" u="none" cap="none" strike="noStrike">
                <a:solidFill>
                  <a:srgbClr val="CBD5E1"/>
                </a:solidFill>
                <a:latin typeface="Urbanist"/>
                <a:ea typeface="Urbanist"/>
                <a:cs typeface="Urbanist"/>
                <a:sym typeface="Urbanist"/>
              </a:rPr>
              <a:t> Read the source post and the AI-drafted reply.</a:t>
            </a:r>
            <a:endParaRPr/>
          </a:p>
        </p:txBody>
      </p:sp>
      <p:sp>
        <p:nvSpPr>
          <p:cNvPr id="202" name="Google Shape;202;p21"/>
          <p:cNvSpPr txBox="1"/>
          <p:nvPr/>
        </p:nvSpPr>
        <p:spPr>
          <a:xfrm>
            <a:off x="1333500" y="5019675"/>
            <a:ext cx="41910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Action:</a:t>
            </a:r>
            <a:r>
              <a:rPr b="0" i="0" lang="en-US" sz="1500" u="none" cap="none" strike="noStrike">
                <a:solidFill>
                  <a:srgbClr val="CBD5E1"/>
                </a:solidFill>
                <a:latin typeface="Urbanist"/>
                <a:ea typeface="Urbanist"/>
                <a:cs typeface="Urbanist"/>
                <a:sym typeface="Urbanist"/>
              </a:rPr>
              <a:t> Click "Approve &amp; Send", "Edit", or "Reject".</a:t>
            </a:r>
            <a:endParaRPr/>
          </a:p>
        </p:txBody>
      </p:sp>
      <p:pic>
        <p:nvPicPr>
          <p:cNvPr descr="image.png" id="203" name="Google Shape;203;p21"/>
          <p:cNvPicPr preferRelativeResize="0"/>
          <p:nvPr/>
        </p:nvPicPr>
        <p:blipFill rotWithShape="1">
          <a:blip r:embed="rId5">
            <a:alphaModFix/>
          </a:blip>
          <a:srcRect b="0" l="0" r="0" t="0"/>
          <a:stretch/>
        </p:blipFill>
        <p:spPr>
          <a:xfrm>
            <a:off x="952500" y="3667125"/>
            <a:ext cx="200025" cy="228600"/>
          </a:xfrm>
          <a:prstGeom prst="rect">
            <a:avLst/>
          </a:prstGeom>
          <a:noFill/>
          <a:ln>
            <a:noFill/>
          </a:ln>
        </p:spPr>
      </p:pic>
      <p:pic>
        <p:nvPicPr>
          <p:cNvPr descr="image.png" id="204" name="Google Shape;204;p21"/>
          <p:cNvPicPr preferRelativeResize="0"/>
          <p:nvPr/>
        </p:nvPicPr>
        <p:blipFill rotWithShape="1">
          <a:blip r:embed="rId6">
            <a:alphaModFix/>
          </a:blip>
          <a:srcRect b="0" l="0" r="0" t="0"/>
          <a:stretch/>
        </p:blipFill>
        <p:spPr>
          <a:xfrm>
            <a:off x="952500" y="4210050"/>
            <a:ext cx="257175" cy="228600"/>
          </a:xfrm>
          <a:prstGeom prst="rect">
            <a:avLst/>
          </a:prstGeom>
          <a:noFill/>
          <a:ln>
            <a:noFill/>
          </a:ln>
        </p:spPr>
      </p:pic>
      <p:pic>
        <p:nvPicPr>
          <p:cNvPr descr="image.png" id="205" name="Google Shape;205;p21"/>
          <p:cNvPicPr preferRelativeResize="0"/>
          <p:nvPr/>
        </p:nvPicPr>
        <p:blipFill rotWithShape="1">
          <a:blip r:embed="rId7">
            <a:alphaModFix/>
          </a:blip>
          <a:srcRect b="0" l="0" r="0" t="0"/>
          <a:stretch/>
        </p:blipFill>
        <p:spPr>
          <a:xfrm>
            <a:off x="952500" y="5057775"/>
            <a:ext cx="228600" cy="2286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09" name="Shape 209"/>
        <p:cNvGrpSpPr/>
        <p:nvPr/>
      </p:nvGrpSpPr>
      <p:grpSpPr>
        <a:xfrm>
          <a:off x="0" y="0"/>
          <a:ext cx="0" cy="0"/>
          <a:chOff x="0" y="0"/>
          <a:chExt cx="0" cy="0"/>
        </a:xfrm>
      </p:grpSpPr>
      <p:pic>
        <p:nvPicPr>
          <p:cNvPr descr="image.png" id="210" name="Google Shape;210;p22"/>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11" name="Google Shape;211;p22"/>
          <p:cNvSpPr txBox="1"/>
          <p:nvPr/>
        </p:nvSpPr>
        <p:spPr>
          <a:xfrm>
            <a:off x="952500" y="2724150"/>
            <a:ext cx="106680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Human-in-the-Loop (Mandatory):</a:t>
            </a:r>
            <a:r>
              <a:rPr b="0" i="0" lang="en-US" sz="1500" u="none" cap="none" strike="noStrike">
                <a:solidFill>
                  <a:srgbClr val="CBD5E1"/>
                </a:solidFill>
                <a:latin typeface="Urbanist"/>
                <a:ea typeface="Urbanist"/>
                <a:cs typeface="Urbanist"/>
                <a:sym typeface="Urbanist"/>
              </a:rPr>
              <a:t> Nothing is posted automatically. Joe must explicitly approve every engagement, ensuring full accountability.</a:t>
            </a:r>
            <a:endParaRPr/>
          </a:p>
        </p:txBody>
      </p:sp>
      <p:sp>
        <p:nvSpPr>
          <p:cNvPr id="212" name="Google Shape;212;p22"/>
          <p:cNvSpPr txBox="1"/>
          <p:nvPr/>
        </p:nvSpPr>
        <p:spPr>
          <a:xfrm>
            <a:off x="952500" y="3571875"/>
            <a:ext cx="106680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Transparency:</a:t>
            </a:r>
            <a:r>
              <a:rPr b="0" i="0" lang="en-US" sz="1500" u="none" cap="none" strike="noStrike">
                <a:solidFill>
                  <a:srgbClr val="CBD5E1"/>
                </a:solidFill>
                <a:latin typeface="Urbanist"/>
                <a:ea typeface="Urbanist"/>
                <a:cs typeface="Urbanist"/>
                <a:sym typeface="Urbanist"/>
              </a:rPr>
              <a:t> We advise "Assisted by AI" disclosure where appropriate to maintain community trust.</a:t>
            </a:r>
            <a:endParaRPr/>
          </a:p>
        </p:txBody>
      </p:sp>
      <p:sp>
        <p:nvSpPr>
          <p:cNvPr id="213" name="Google Shape;213;p22"/>
          <p:cNvSpPr txBox="1"/>
          <p:nvPr/>
        </p:nvSpPr>
        <p:spPr>
          <a:xfrm>
            <a:off x="952500" y="4114800"/>
            <a:ext cx="1066800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Value-First Policy:</a:t>
            </a:r>
            <a:r>
              <a:rPr b="0" i="0" lang="en-US" sz="1500" u="none" cap="none" strike="noStrike">
                <a:solidFill>
                  <a:srgbClr val="CBD5E1"/>
                </a:solidFill>
                <a:latin typeface="Urbanist"/>
                <a:ea typeface="Urbanist"/>
                <a:cs typeface="Urbanist"/>
                <a:sym typeface="Urbanist"/>
              </a:rPr>
              <a:t> Zero spam. Engagement must offer genuine advice, critique, or context before linking.</a:t>
            </a:r>
            <a:endParaRPr/>
          </a:p>
        </p:txBody>
      </p:sp>
      <p:sp>
        <p:nvSpPr>
          <p:cNvPr id="214" name="Google Shape;214;p22"/>
          <p:cNvSpPr txBox="1"/>
          <p:nvPr/>
        </p:nvSpPr>
        <p:spPr>
          <a:xfrm>
            <a:off x="952500" y="4657725"/>
            <a:ext cx="106680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CBD5E1"/>
                </a:solidFill>
                <a:latin typeface="Urbanist"/>
                <a:ea typeface="Urbanist"/>
                <a:cs typeface="Urbanist"/>
                <a:sym typeface="Urbanist"/>
              </a:rPr>
              <a:t>Strict Compliance:</a:t>
            </a:r>
            <a:r>
              <a:rPr b="0" i="0" lang="en-US" sz="1500" u="none" cap="none" strike="noStrike">
                <a:solidFill>
                  <a:srgbClr val="CBD5E1"/>
                </a:solidFill>
                <a:latin typeface="Urbanist"/>
                <a:ea typeface="Urbanist"/>
                <a:cs typeface="Urbanist"/>
                <a:sym typeface="Urbanist"/>
              </a:rPr>
              <a:t> The system is hard-coded to respect Reddit and Pinterest Terms of Service regarding automation and rate limits.</a:t>
            </a:r>
            <a:endParaRPr/>
          </a:p>
        </p:txBody>
      </p:sp>
      <p:pic>
        <p:nvPicPr>
          <p:cNvPr descr="image.png" id="215" name="Google Shape;215;p22"/>
          <p:cNvPicPr preferRelativeResize="0"/>
          <p:nvPr/>
        </p:nvPicPr>
        <p:blipFill rotWithShape="1">
          <a:blip r:embed="rId4">
            <a:alphaModFix/>
          </a:blip>
          <a:srcRect b="0" l="0" r="0" t="0"/>
          <a:stretch/>
        </p:blipFill>
        <p:spPr>
          <a:xfrm>
            <a:off x="571500" y="2762250"/>
            <a:ext cx="285750" cy="228600"/>
          </a:xfrm>
          <a:prstGeom prst="rect">
            <a:avLst/>
          </a:prstGeom>
          <a:noFill/>
          <a:ln>
            <a:noFill/>
          </a:ln>
        </p:spPr>
      </p:pic>
      <p:pic>
        <p:nvPicPr>
          <p:cNvPr descr="image.png" id="216" name="Google Shape;216;p22"/>
          <p:cNvPicPr preferRelativeResize="0"/>
          <p:nvPr/>
        </p:nvPicPr>
        <p:blipFill rotWithShape="1">
          <a:blip r:embed="rId5">
            <a:alphaModFix/>
          </a:blip>
          <a:srcRect b="0" l="0" r="0" t="0"/>
          <a:stretch/>
        </p:blipFill>
        <p:spPr>
          <a:xfrm>
            <a:off x="571500" y="3609975"/>
            <a:ext cx="257175" cy="228600"/>
          </a:xfrm>
          <a:prstGeom prst="rect">
            <a:avLst/>
          </a:prstGeom>
          <a:noFill/>
          <a:ln>
            <a:noFill/>
          </a:ln>
        </p:spPr>
      </p:pic>
      <p:pic>
        <p:nvPicPr>
          <p:cNvPr descr="image.png" id="217" name="Google Shape;217;p22"/>
          <p:cNvPicPr preferRelativeResize="0"/>
          <p:nvPr/>
        </p:nvPicPr>
        <p:blipFill rotWithShape="1">
          <a:blip r:embed="rId6">
            <a:alphaModFix/>
          </a:blip>
          <a:srcRect b="0" l="0" r="0" t="0"/>
          <a:stretch/>
        </p:blipFill>
        <p:spPr>
          <a:xfrm>
            <a:off x="571500" y="4152900"/>
            <a:ext cx="228600" cy="228600"/>
          </a:xfrm>
          <a:prstGeom prst="rect">
            <a:avLst/>
          </a:prstGeom>
          <a:noFill/>
          <a:ln>
            <a:noFill/>
          </a:ln>
        </p:spPr>
      </p:pic>
      <p:pic>
        <p:nvPicPr>
          <p:cNvPr descr="image.png" id="218" name="Google Shape;218;p22"/>
          <p:cNvPicPr preferRelativeResize="0"/>
          <p:nvPr/>
        </p:nvPicPr>
        <p:blipFill rotWithShape="1">
          <a:blip r:embed="rId7">
            <a:alphaModFix/>
          </a:blip>
          <a:srcRect b="0" l="0" r="0" t="0"/>
          <a:stretch/>
        </p:blipFill>
        <p:spPr>
          <a:xfrm>
            <a:off x="571500" y="4695825"/>
            <a:ext cx="228600" cy="228600"/>
          </a:xfrm>
          <a:prstGeom prst="rect">
            <a:avLst/>
          </a:prstGeom>
          <a:noFill/>
          <a:ln>
            <a:noFill/>
          </a:ln>
        </p:spPr>
      </p:pic>
      <p:sp>
        <p:nvSpPr>
          <p:cNvPr id="219" name="Google Shape;219;p22"/>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DEFF9A"/>
                </a:solidFill>
                <a:latin typeface="Urbanist"/>
                <a:ea typeface="Urbanist"/>
                <a:cs typeface="Urbanist"/>
                <a:sym typeface="Urbanist"/>
              </a:rPr>
              <a:t>Ethical Framework &amp; Compliance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23" name="Shape 223"/>
        <p:cNvGrpSpPr/>
        <p:nvPr/>
      </p:nvGrpSpPr>
      <p:grpSpPr>
        <a:xfrm>
          <a:off x="0" y="0"/>
          <a:ext cx="0" cy="0"/>
          <a:chOff x="0" y="0"/>
          <a:chExt cx="0" cy="0"/>
        </a:xfrm>
      </p:grpSpPr>
      <p:sp>
        <p:nvSpPr>
          <p:cNvPr id="224" name="Google Shape;224;p23"/>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DEFF9A"/>
                </a:solidFill>
                <a:latin typeface="Urbanist"/>
                <a:ea typeface="Urbanist"/>
                <a:cs typeface="Urbanist"/>
                <a:sym typeface="Urbanist"/>
              </a:rPr>
              <a:t>Business Model &amp; ROI</a:t>
            </a:r>
            <a:endParaRPr/>
          </a:p>
        </p:txBody>
      </p:sp>
      <p:sp>
        <p:nvSpPr>
          <p:cNvPr id="225" name="Google Shape;225;p23"/>
          <p:cNvSpPr txBox="1"/>
          <p:nvPr/>
        </p:nvSpPr>
        <p:spPr>
          <a:xfrm>
            <a:off x="571500" y="1244325"/>
            <a:ext cx="40725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rgbClr val="DEFF9A"/>
                </a:solidFill>
                <a:latin typeface="Calibri"/>
                <a:ea typeface="Calibri"/>
                <a:cs typeface="Calibri"/>
                <a:sym typeface="Calibri"/>
              </a:rPr>
              <a:t>Hypothetical</a:t>
            </a:r>
            <a:endParaRPr sz="3200">
              <a:solidFill>
                <a:srgbClr val="DEFF9A"/>
              </a:solidFill>
              <a:latin typeface="Calibri"/>
              <a:ea typeface="Calibri"/>
              <a:cs typeface="Calibri"/>
              <a:sym typeface="Calibri"/>
            </a:endParaRPr>
          </a:p>
        </p:txBody>
      </p:sp>
      <p:graphicFrame>
        <p:nvGraphicFramePr>
          <p:cNvPr id="226" name="Google Shape;226;p23"/>
          <p:cNvGraphicFramePr/>
          <p:nvPr/>
        </p:nvGraphicFramePr>
        <p:xfrm>
          <a:off x="1142175" y="2254700"/>
          <a:ext cx="3000000" cy="3000000"/>
        </p:xfrm>
        <a:graphic>
          <a:graphicData uri="http://schemas.openxmlformats.org/drawingml/2006/table">
            <a:tbl>
              <a:tblPr>
                <a:noFill/>
                <a:tableStyleId>{64F6E4E9-EF45-4D2E-9249-9E4A737D0C2A}</a:tableStyleId>
              </a:tblPr>
              <a:tblGrid>
                <a:gridCol w="2356725"/>
                <a:gridCol w="2398550"/>
                <a:gridCol w="2705350"/>
                <a:gridCol w="2510125"/>
              </a:tblGrid>
              <a:tr h="588325">
                <a:tc>
                  <a:txBody>
                    <a:bodyPr/>
                    <a:lstStyle/>
                    <a:p>
                      <a:pPr indent="0" lvl="0" marL="0" rtl="0" algn="l">
                        <a:lnSpc>
                          <a:spcPct val="115000"/>
                        </a:lnSpc>
                        <a:spcBef>
                          <a:spcPts val="0"/>
                        </a:spcBef>
                        <a:spcAft>
                          <a:spcPts val="0"/>
                        </a:spcAft>
                        <a:buNone/>
                      </a:pPr>
                      <a:r>
                        <a:rPr b="1" lang="en-US" sz="1100">
                          <a:solidFill>
                            <a:srgbClr val="1F1F1F"/>
                          </a:solidFill>
                        </a:rPr>
                        <a:t>Metric</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US" sz="1100">
                          <a:solidFill>
                            <a:srgbClr val="1F1F1F"/>
                          </a:solidFill>
                        </a:rPr>
                        <a:t>Month 1 (Ramp-up)</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US" sz="1100">
                          <a:solidFill>
                            <a:srgbClr val="1F1F1F"/>
                          </a:solidFill>
                        </a:rPr>
                        <a:t>Month 3 (Net Positive)</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US" sz="1100">
                          <a:solidFill>
                            <a:srgbClr val="1F1F1F"/>
                          </a:solidFill>
                        </a:rPr>
                        <a:t>Month 6 (Optimized)</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r>
              <a:tr h="588325">
                <a:tc>
                  <a:txBody>
                    <a:bodyPr/>
                    <a:lstStyle/>
                    <a:p>
                      <a:pPr indent="0" lvl="0" marL="0" rtl="0" algn="l">
                        <a:lnSpc>
                          <a:spcPct val="115000"/>
                        </a:lnSpc>
                        <a:spcBef>
                          <a:spcPts val="0"/>
                        </a:spcBef>
                        <a:spcAft>
                          <a:spcPts val="0"/>
                        </a:spcAft>
                        <a:buNone/>
                      </a:pPr>
                      <a:r>
                        <a:rPr b="1" lang="en-US" sz="1100">
                          <a:solidFill>
                            <a:srgbClr val="CFD7E7"/>
                          </a:solidFill>
                        </a:rPr>
                        <a:t>Traffic (Clicks)</a:t>
                      </a:r>
                      <a:endParaRPr b="1" sz="1100">
                        <a:solidFill>
                          <a:srgbClr val="CFD7E7"/>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solidFill>
                            <a:srgbClr val="CFD7E7"/>
                          </a:solidFill>
                        </a:rPr>
                        <a:t>40</a:t>
                      </a:r>
                      <a:endParaRPr sz="1100">
                        <a:solidFill>
                          <a:srgbClr val="CFD7E7"/>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solidFill>
                            <a:srgbClr val="CFD7E7"/>
                          </a:solidFill>
                        </a:rPr>
                        <a:t>250</a:t>
                      </a:r>
                      <a:endParaRPr sz="1100">
                        <a:solidFill>
                          <a:srgbClr val="CFD7E7"/>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solidFill>
                            <a:srgbClr val="CFD7E7"/>
                          </a:solidFill>
                        </a:rPr>
                        <a:t>500</a:t>
                      </a:r>
                      <a:endParaRPr sz="1100">
                        <a:solidFill>
                          <a:srgbClr val="CFD7E7"/>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588325">
                <a:tc>
                  <a:txBody>
                    <a:bodyPr/>
                    <a:lstStyle/>
                    <a:p>
                      <a:pPr indent="0" lvl="0" marL="0" rtl="0" algn="l">
                        <a:lnSpc>
                          <a:spcPct val="115000"/>
                        </a:lnSpc>
                        <a:spcBef>
                          <a:spcPts val="0"/>
                        </a:spcBef>
                        <a:spcAft>
                          <a:spcPts val="0"/>
                        </a:spcAft>
                        <a:buNone/>
                      </a:pPr>
                      <a:r>
                        <a:rPr b="1" lang="en-US" sz="1100">
                          <a:solidFill>
                            <a:srgbClr val="CFD7E7"/>
                          </a:solidFill>
                        </a:rPr>
                        <a:t>Sales (Units)</a:t>
                      </a:r>
                      <a:endParaRPr b="1" sz="1100">
                        <a:solidFill>
                          <a:srgbClr val="CFD7E7"/>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solidFill>
                            <a:srgbClr val="CFD7E7"/>
                          </a:solidFill>
                        </a:rPr>
                        <a:t>2</a:t>
                      </a:r>
                      <a:endParaRPr sz="1100">
                        <a:solidFill>
                          <a:srgbClr val="CFD7E7"/>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solidFill>
                            <a:srgbClr val="CFD7E7"/>
                          </a:solidFill>
                        </a:rPr>
                        <a:t>9</a:t>
                      </a:r>
                      <a:endParaRPr sz="1100">
                        <a:solidFill>
                          <a:srgbClr val="CFD7E7"/>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solidFill>
                            <a:srgbClr val="CFD7E7"/>
                          </a:solidFill>
                        </a:rPr>
                        <a:t>40</a:t>
                      </a:r>
                      <a:endParaRPr sz="1100">
                        <a:solidFill>
                          <a:srgbClr val="CFD7E7"/>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588325">
                <a:tc>
                  <a:txBody>
                    <a:bodyPr/>
                    <a:lstStyle/>
                    <a:p>
                      <a:pPr indent="0" lvl="0" marL="0" rtl="0" algn="l">
                        <a:lnSpc>
                          <a:spcPct val="115000"/>
                        </a:lnSpc>
                        <a:spcBef>
                          <a:spcPts val="0"/>
                        </a:spcBef>
                        <a:spcAft>
                          <a:spcPts val="0"/>
                        </a:spcAft>
                        <a:buNone/>
                      </a:pPr>
                      <a:r>
                        <a:rPr b="1" lang="en-US" sz="1100">
                          <a:solidFill>
                            <a:srgbClr val="CFD7E7"/>
                          </a:solidFill>
                        </a:rPr>
                        <a:t>Revenue (@ $150)</a:t>
                      </a:r>
                      <a:endParaRPr b="1" sz="1100">
                        <a:solidFill>
                          <a:srgbClr val="CFD7E7"/>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solidFill>
                            <a:srgbClr val="CFD7E7"/>
                          </a:solidFill>
                        </a:rPr>
                        <a:t>$300</a:t>
                      </a:r>
                      <a:endParaRPr sz="1100">
                        <a:solidFill>
                          <a:srgbClr val="CFD7E7"/>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solidFill>
                            <a:srgbClr val="CFD7E7"/>
                          </a:solidFill>
                        </a:rPr>
                        <a:t>$1350</a:t>
                      </a:r>
                      <a:endParaRPr sz="1100">
                        <a:solidFill>
                          <a:srgbClr val="CFD7E7"/>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solidFill>
                            <a:srgbClr val="CFD7E7"/>
                          </a:solidFill>
                        </a:rPr>
                        <a:t>$6000</a:t>
                      </a:r>
                      <a:endParaRPr sz="1100">
                        <a:solidFill>
                          <a:srgbClr val="CFD7E7"/>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588325">
                <a:tc>
                  <a:txBody>
                    <a:bodyPr/>
                    <a:lstStyle/>
                    <a:p>
                      <a:pPr indent="0" lvl="0" marL="0" rtl="0" algn="l">
                        <a:lnSpc>
                          <a:spcPct val="115000"/>
                        </a:lnSpc>
                        <a:spcBef>
                          <a:spcPts val="0"/>
                        </a:spcBef>
                        <a:spcAft>
                          <a:spcPts val="0"/>
                        </a:spcAft>
                        <a:buNone/>
                      </a:pPr>
                      <a:r>
                        <a:rPr b="1" lang="en-US" sz="1100">
                          <a:solidFill>
                            <a:srgbClr val="CFD7E7"/>
                          </a:solidFill>
                        </a:rPr>
                        <a:t>Commission (max at 10%)</a:t>
                      </a:r>
                      <a:endParaRPr b="1" sz="1100">
                        <a:solidFill>
                          <a:srgbClr val="CFD7E7"/>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solidFill>
                            <a:srgbClr val="CFD7E7"/>
                          </a:solidFill>
                        </a:rPr>
                        <a:t>$0</a:t>
                      </a:r>
                      <a:endParaRPr sz="1100">
                        <a:solidFill>
                          <a:srgbClr val="CFD7E7"/>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solidFill>
                            <a:srgbClr val="CFD7E7"/>
                          </a:solidFill>
                        </a:rPr>
                        <a:t>$67</a:t>
                      </a:r>
                      <a:endParaRPr sz="1100">
                        <a:solidFill>
                          <a:srgbClr val="CFD7E7"/>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solidFill>
                            <a:srgbClr val="CFD7E7"/>
                          </a:solidFill>
                        </a:rPr>
                        <a:t>$600</a:t>
                      </a:r>
                      <a:endParaRPr sz="1100">
                        <a:solidFill>
                          <a:srgbClr val="CFD7E7"/>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588325">
                <a:tc>
                  <a:txBody>
                    <a:bodyPr/>
                    <a:lstStyle/>
                    <a:p>
                      <a:pPr indent="0" lvl="0" marL="0" rtl="0" algn="l">
                        <a:lnSpc>
                          <a:spcPct val="115000"/>
                        </a:lnSpc>
                        <a:spcBef>
                          <a:spcPts val="0"/>
                        </a:spcBef>
                        <a:spcAft>
                          <a:spcPts val="0"/>
                        </a:spcAft>
                        <a:buNone/>
                      </a:pPr>
                      <a:r>
                        <a:rPr b="1" lang="en-US" sz="1100">
                          <a:solidFill>
                            <a:srgbClr val="CFD7E7"/>
                          </a:solidFill>
                        </a:rPr>
                        <a:t>System Cost</a:t>
                      </a:r>
                      <a:endParaRPr b="1" sz="1100">
                        <a:solidFill>
                          <a:srgbClr val="CFD7E7"/>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solidFill>
                            <a:srgbClr val="CFD7E7"/>
                          </a:solidFill>
                        </a:rPr>
                        <a:t>$50</a:t>
                      </a:r>
                      <a:endParaRPr sz="1100">
                        <a:solidFill>
                          <a:srgbClr val="CFD7E7"/>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solidFill>
                            <a:srgbClr val="CFD7E7"/>
                          </a:solidFill>
                        </a:rPr>
                        <a:t>$50</a:t>
                      </a:r>
                      <a:endParaRPr sz="1100">
                        <a:solidFill>
                          <a:srgbClr val="CFD7E7"/>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solidFill>
                            <a:srgbClr val="CFD7E7"/>
                          </a:solidFill>
                        </a:rPr>
                        <a:t>$50</a:t>
                      </a:r>
                      <a:endParaRPr sz="1100">
                        <a:solidFill>
                          <a:srgbClr val="CFD7E7"/>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588325">
                <a:tc>
                  <a:txBody>
                    <a:bodyPr/>
                    <a:lstStyle/>
                    <a:p>
                      <a:pPr indent="0" lvl="0" marL="0" rtl="0" algn="l">
                        <a:lnSpc>
                          <a:spcPct val="115000"/>
                        </a:lnSpc>
                        <a:spcBef>
                          <a:spcPts val="0"/>
                        </a:spcBef>
                        <a:spcAft>
                          <a:spcPts val="0"/>
                        </a:spcAft>
                        <a:buNone/>
                      </a:pPr>
                      <a:r>
                        <a:rPr b="1" lang="en-US" sz="1100">
                          <a:solidFill>
                            <a:srgbClr val="CFD7E7"/>
                          </a:solidFill>
                        </a:rPr>
                        <a:t>Joe's Gross profit</a:t>
                      </a:r>
                      <a:endParaRPr b="1" sz="1100">
                        <a:solidFill>
                          <a:srgbClr val="CFD7E7"/>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US" sz="1100">
                          <a:solidFill>
                            <a:srgbClr val="CFD7E7"/>
                          </a:solidFill>
                        </a:rPr>
                        <a:t>$250</a:t>
                      </a:r>
                      <a:endParaRPr b="1" sz="1100">
                        <a:solidFill>
                          <a:srgbClr val="CFD7E7"/>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US" sz="1100">
                          <a:solidFill>
                            <a:srgbClr val="CFD7E7"/>
                          </a:solidFill>
                        </a:rPr>
                        <a:t>$1233</a:t>
                      </a:r>
                      <a:endParaRPr b="1" sz="1100">
                        <a:solidFill>
                          <a:srgbClr val="CFD7E7"/>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US" sz="1100">
                          <a:solidFill>
                            <a:srgbClr val="CFD7E7"/>
                          </a:solidFill>
                        </a:rPr>
                        <a:t>$6350</a:t>
                      </a:r>
                      <a:endParaRPr b="1" sz="1100">
                        <a:solidFill>
                          <a:srgbClr val="CFD7E7"/>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30" name="Shape 230"/>
        <p:cNvGrpSpPr/>
        <p:nvPr/>
      </p:nvGrpSpPr>
      <p:grpSpPr>
        <a:xfrm>
          <a:off x="0" y="0"/>
          <a:ext cx="0" cy="0"/>
          <a:chOff x="0" y="0"/>
          <a:chExt cx="0" cy="0"/>
        </a:xfrm>
      </p:grpSpPr>
      <p:pic>
        <p:nvPicPr>
          <p:cNvPr descr="image.png" id="231" name="Google Shape;231;p2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32" name="Google Shape;232;p24"/>
          <p:cNvSpPr/>
          <p:nvPr/>
        </p:nvSpPr>
        <p:spPr>
          <a:xfrm>
            <a:off x="571500" y="4229100"/>
            <a:ext cx="11049000" cy="19050"/>
          </a:xfrm>
          <a:prstGeom prst="roundRect">
            <a:avLst>
              <a:gd fmla="val 16667" name="adj"/>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3" name="Google Shape;233;p24"/>
          <p:cNvSpPr txBox="1"/>
          <p:nvPr/>
        </p:nvSpPr>
        <p:spPr>
          <a:xfrm>
            <a:off x="516254" y="3990975"/>
            <a:ext cx="2320290"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DEFF9A"/>
                </a:solidFill>
                <a:latin typeface="Urbanist"/>
                <a:ea typeface="Urbanist"/>
                <a:cs typeface="Urbanist"/>
                <a:sym typeface="Urbanist"/>
              </a:rPr>
              <a:t>Week 1</a:t>
            </a:r>
            <a:endParaRPr/>
          </a:p>
        </p:txBody>
      </p:sp>
      <p:sp>
        <p:nvSpPr>
          <p:cNvPr id="234" name="Google Shape;234;p24"/>
          <p:cNvSpPr txBox="1"/>
          <p:nvPr/>
        </p:nvSpPr>
        <p:spPr>
          <a:xfrm>
            <a:off x="571500" y="4410075"/>
            <a:ext cx="2209800" cy="30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CBD5E1"/>
                </a:solidFill>
                <a:latin typeface="Urbanist"/>
                <a:ea typeface="Urbanist"/>
                <a:cs typeface="Urbanist"/>
                <a:sym typeface="Urbanist"/>
              </a:rPr>
              <a:t>Setup &amp; Ingestion</a:t>
            </a:r>
            <a:endParaRPr/>
          </a:p>
        </p:txBody>
      </p:sp>
      <p:sp>
        <p:nvSpPr>
          <p:cNvPr id="235" name="Google Shape;235;p24"/>
          <p:cNvSpPr txBox="1"/>
          <p:nvPr/>
        </p:nvSpPr>
        <p:spPr>
          <a:xfrm>
            <a:off x="3462605" y="3990975"/>
            <a:ext cx="2320290"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DEFF9A"/>
                </a:solidFill>
                <a:latin typeface="Urbanist"/>
                <a:ea typeface="Urbanist"/>
                <a:cs typeface="Urbanist"/>
                <a:sym typeface="Urbanist"/>
              </a:rPr>
              <a:t>Week 2</a:t>
            </a:r>
            <a:endParaRPr/>
          </a:p>
        </p:txBody>
      </p:sp>
      <p:sp>
        <p:nvSpPr>
          <p:cNvPr id="236" name="Google Shape;236;p24"/>
          <p:cNvSpPr txBox="1"/>
          <p:nvPr/>
        </p:nvSpPr>
        <p:spPr>
          <a:xfrm>
            <a:off x="3517850" y="4410075"/>
            <a:ext cx="2209800" cy="30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CBD5E1"/>
                </a:solidFill>
                <a:latin typeface="Urbanist"/>
                <a:ea typeface="Urbanist"/>
                <a:cs typeface="Urbanist"/>
                <a:sym typeface="Urbanist"/>
              </a:rPr>
              <a:t>Core AI Analysis</a:t>
            </a:r>
            <a:endParaRPr/>
          </a:p>
        </p:txBody>
      </p:sp>
      <p:sp>
        <p:nvSpPr>
          <p:cNvPr id="237" name="Google Shape;237;p24"/>
          <p:cNvSpPr txBox="1"/>
          <p:nvPr/>
        </p:nvSpPr>
        <p:spPr>
          <a:xfrm>
            <a:off x="6408955" y="3990975"/>
            <a:ext cx="2320290"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DEFF9A"/>
                </a:solidFill>
                <a:latin typeface="Urbanist"/>
                <a:ea typeface="Urbanist"/>
                <a:cs typeface="Urbanist"/>
                <a:sym typeface="Urbanist"/>
              </a:rPr>
              <a:t>Week 3</a:t>
            </a:r>
            <a:endParaRPr/>
          </a:p>
        </p:txBody>
      </p:sp>
      <p:sp>
        <p:nvSpPr>
          <p:cNvPr id="238" name="Google Shape;238;p24"/>
          <p:cNvSpPr txBox="1"/>
          <p:nvPr/>
        </p:nvSpPr>
        <p:spPr>
          <a:xfrm>
            <a:off x="6464200" y="4410075"/>
            <a:ext cx="2209800" cy="30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CBD5E1"/>
                </a:solidFill>
                <a:latin typeface="Urbanist"/>
                <a:ea typeface="Urbanist"/>
                <a:cs typeface="Urbanist"/>
                <a:sym typeface="Urbanist"/>
              </a:rPr>
              <a:t>Dashboard &amp; HIL</a:t>
            </a:r>
            <a:endParaRPr/>
          </a:p>
        </p:txBody>
      </p:sp>
      <p:sp>
        <p:nvSpPr>
          <p:cNvPr id="239" name="Google Shape;239;p24"/>
          <p:cNvSpPr txBox="1"/>
          <p:nvPr/>
        </p:nvSpPr>
        <p:spPr>
          <a:xfrm>
            <a:off x="9355306" y="3990975"/>
            <a:ext cx="2320290" cy="2286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500" u="none" cap="none" strike="noStrike">
                <a:solidFill>
                  <a:srgbClr val="DEFF9A"/>
                </a:solidFill>
                <a:latin typeface="Urbanist"/>
                <a:ea typeface="Urbanist"/>
                <a:cs typeface="Urbanist"/>
                <a:sym typeface="Urbanist"/>
              </a:rPr>
              <a:t>Week 4</a:t>
            </a:r>
            <a:endParaRPr/>
          </a:p>
        </p:txBody>
      </p:sp>
      <p:sp>
        <p:nvSpPr>
          <p:cNvPr id="240" name="Google Shape;240;p24"/>
          <p:cNvSpPr txBox="1"/>
          <p:nvPr/>
        </p:nvSpPr>
        <p:spPr>
          <a:xfrm>
            <a:off x="9410551" y="4410075"/>
            <a:ext cx="2209800" cy="30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CBD5E1"/>
                </a:solidFill>
                <a:latin typeface="Urbanist"/>
                <a:ea typeface="Urbanist"/>
                <a:cs typeface="Urbanist"/>
                <a:sym typeface="Urbanist"/>
              </a:rPr>
              <a:t>Final &amp; Launch</a:t>
            </a:r>
            <a:endParaRPr/>
          </a:p>
        </p:txBody>
      </p:sp>
      <p:sp>
        <p:nvSpPr>
          <p:cNvPr id="241" name="Google Shape;241;p24"/>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DEFF9A"/>
                </a:solidFill>
                <a:latin typeface="Urbanist"/>
                <a:ea typeface="Urbanist"/>
                <a:cs typeface="Urbanist"/>
                <a:sym typeface="Urbanist"/>
              </a:rPr>
              <a:t>Project Roadmap</a:t>
            </a:r>
            <a:endParaRPr/>
          </a:p>
        </p:txBody>
      </p:sp>
      <p:sp>
        <p:nvSpPr>
          <p:cNvPr id="242" name="Google Shape;242;p24"/>
          <p:cNvSpPr/>
          <p:nvPr/>
        </p:nvSpPr>
        <p:spPr>
          <a:xfrm>
            <a:off x="1581150" y="4905375"/>
            <a:ext cx="190500" cy="190500"/>
          </a:xfrm>
          <a:prstGeom prst="roundRect">
            <a:avLst>
              <a:gd fmla="val 50000" name="adj"/>
            </a:avLst>
          </a:prstGeom>
          <a:solidFill>
            <a:srgbClr val="0F172A"/>
          </a:solidFill>
          <a:ln cap="flat" cmpd="sng" w="28575">
            <a:solidFill>
              <a:srgbClr val="DEFF9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3" name="Google Shape;243;p24"/>
          <p:cNvSpPr/>
          <p:nvPr/>
        </p:nvSpPr>
        <p:spPr>
          <a:xfrm>
            <a:off x="4527500" y="4905375"/>
            <a:ext cx="190500" cy="190500"/>
          </a:xfrm>
          <a:prstGeom prst="roundRect">
            <a:avLst>
              <a:gd fmla="val 50000" name="adj"/>
            </a:avLst>
          </a:prstGeom>
          <a:solidFill>
            <a:srgbClr val="0F172A"/>
          </a:solidFill>
          <a:ln cap="flat" cmpd="sng" w="28575">
            <a:solidFill>
              <a:srgbClr val="DEFF9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4" name="Google Shape;244;p24"/>
          <p:cNvSpPr/>
          <p:nvPr/>
        </p:nvSpPr>
        <p:spPr>
          <a:xfrm>
            <a:off x="7473850" y="4905375"/>
            <a:ext cx="190500" cy="190500"/>
          </a:xfrm>
          <a:prstGeom prst="roundRect">
            <a:avLst>
              <a:gd fmla="val 50000" name="adj"/>
            </a:avLst>
          </a:prstGeom>
          <a:solidFill>
            <a:srgbClr val="0F172A"/>
          </a:solidFill>
          <a:ln cap="flat" cmpd="sng" w="28575">
            <a:solidFill>
              <a:srgbClr val="DEFF9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5" name="Google Shape;245;p24"/>
          <p:cNvSpPr/>
          <p:nvPr/>
        </p:nvSpPr>
        <p:spPr>
          <a:xfrm>
            <a:off x="10420201" y="4905375"/>
            <a:ext cx="190500" cy="190500"/>
          </a:xfrm>
          <a:prstGeom prst="roundRect">
            <a:avLst>
              <a:gd fmla="val 50000" name="adj"/>
            </a:avLst>
          </a:prstGeom>
          <a:solidFill>
            <a:srgbClr val="0F172A"/>
          </a:solidFill>
          <a:ln cap="flat" cmpd="sng" w="28575">
            <a:solidFill>
              <a:srgbClr val="DEFF9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49" name="Shape 249"/>
        <p:cNvGrpSpPr/>
        <p:nvPr/>
      </p:nvGrpSpPr>
      <p:grpSpPr>
        <a:xfrm>
          <a:off x="0" y="0"/>
          <a:ext cx="0" cy="0"/>
          <a:chOff x="0" y="0"/>
          <a:chExt cx="0" cy="0"/>
        </a:xfrm>
      </p:grpSpPr>
      <p:pic>
        <p:nvPicPr>
          <p:cNvPr descr="image.png" id="250" name="Google Shape;250;p25"/>
          <p:cNvPicPr preferRelativeResize="0"/>
          <p:nvPr/>
        </p:nvPicPr>
        <p:blipFill rotWithShape="1">
          <a:blip r:embed="rId3">
            <a:alphaModFix/>
          </a:blip>
          <a:srcRect b="0" l="0" r="0" t="0"/>
          <a:stretch/>
        </p:blipFill>
        <p:spPr>
          <a:xfrm>
            <a:off x="0" y="49500"/>
            <a:ext cx="12192000" cy="6858000"/>
          </a:xfrm>
          <a:prstGeom prst="rect">
            <a:avLst/>
          </a:prstGeom>
          <a:noFill/>
          <a:ln>
            <a:noFill/>
          </a:ln>
        </p:spPr>
      </p:pic>
      <p:sp>
        <p:nvSpPr>
          <p:cNvPr id="251" name="Google Shape;251;p25"/>
          <p:cNvSpPr txBox="1"/>
          <p:nvPr/>
        </p:nvSpPr>
        <p:spPr>
          <a:xfrm>
            <a:off x="4060746" y="404212"/>
            <a:ext cx="4070400" cy="923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6000" u="none" cap="none" strike="noStrike">
                <a:solidFill>
                  <a:srgbClr val="F8FAFC"/>
                </a:solidFill>
                <a:latin typeface="Urbanist"/>
                <a:ea typeface="Urbanist"/>
                <a:cs typeface="Urbanist"/>
                <a:sym typeface="Urbanist"/>
              </a:rPr>
              <a:t>Q &amp; A</a:t>
            </a:r>
            <a:endParaRPr/>
          </a:p>
        </p:txBody>
      </p:sp>
      <p:sp>
        <p:nvSpPr>
          <p:cNvPr id="252" name="Google Shape;252;p25"/>
          <p:cNvSpPr txBox="1"/>
          <p:nvPr/>
        </p:nvSpPr>
        <p:spPr>
          <a:xfrm>
            <a:off x="4157613" y="1424287"/>
            <a:ext cx="3876600" cy="2310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CBD5E1"/>
                </a:solidFill>
                <a:latin typeface="Urbanist"/>
                <a:ea typeface="Urbanist"/>
                <a:cs typeface="Urbanist"/>
                <a:sym typeface="Urbanist"/>
              </a:rPr>
              <a:t>Addressing questions on Ethics, Tech, and ROI.</a:t>
            </a:r>
            <a:endParaRPr/>
          </a:p>
        </p:txBody>
      </p:sp>
      <p:sp>
        <p:nvSpPr>
          <p:cNvPr id="253" name="Google Shape;253;p25"/>
          <p:cNvSpPr txBox="1"/>
          <p:nvPr/>
        </p:nvSpPr>
        <p:spPr>
          <a:xfrm>
            <a:off x="4157663" y="1714162"/>
            <a:ext cx="3876600" cy="27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800" u="none" cap="none" strike="noStrike">
                <a:solidFill>
                  <a:srgbClr val="DEFF9A"/>
                </a:solidFill>
                <a:latin typeface="Times New Roman"/>
                <a:ea typeface="Times New Roman"/>
                <a:cs typeface="Times New Roman"/>
                <a:sym typeface="Times New Roman"/>
              </a:rPr>
              <a:t>ArtInsight AI Consulting</a:t>
            </a:r>
            <a:endParaRPr/>
          </a:p>
        </p:txBody>
      </p:sp>
      <p:sp>
        <p:nvSpPr>
          <p:cNvPr id="254" name="Google Shape;254;p25"/>
          <p:cNvSpPr txBox="1"/>
          <p:nvPr/>
        </p:nvSpPr>
        <p:spPr>
          <a:xfrm>
            <a:off x="637800" y="2121000"/>
            <a:ext cx="51456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100">
                <a:solidFill>
                  <a:schemeClr val="accent3"/>
                </a:solidFill>
              </a:rPr>
              <a:t>"I'm already struggling to find time to paint. How much time is this tool </a:t>
            </a:r>
            <a:r>
              <a:rPr i="1" lang="en-US" sz="1100">
                <a:solidFill>
                  <a:schemeClr val="accent3"/>
                </a:solidFill>
              </a:rPr>
              <a:t>really</a:t>
            </a:r>
            <a:r>
              <a:rPr lang="en-US" sz="1100">
                <a:solidFill>
                  <a:schemeClr val="accent3"/>
                </a:solidFill>
              </a:rPr>
              <a:t> going to take up every day? Does 'Human-in-the-Loop' just mean I'm doing all the work?"</a:t>
            </a:r>
            <a:endParaRPr sz="3200">
              <a:solidFill>
                <a:schemeClr val="accent3"/>
              </a:solidFill>
              <a:latin typeface="Calibri"/>
              <a:ea typeface="Calibri"/>
              <a:cs typeface="Calibri"/>
              <a:sym typeface="Calibri"/>
            </a:endParaRPr>
          </a:p>
        </p:txBody>
      </p:sp>
      <p:sp>
        <p:nvSpPr>
          <p:cNvPr id="255" name="Google Shape;255;p25"/>
          <p:cNvSpPr txBox="1"/>
          <p:nvPr/>
        </p:nvSpPr>
        <p:spPr>
          <a:xfrm>
            <a:off x="675525" y="2815938"/>
            <a:ext cx="51456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100">
                <a:solidFill>
                  <a:srgbClr val="FFFF00"/>
                </a:solidFill>
              </a:rPr>
              <a:t>The whole point of the AI is to </a:t>
            </a:r>
            <a:r>
              <a:rPr b="1" lang="en-US" sz="1100">
                <a:solidFill>
                  <a:srgbClr val="FFFF00"/>
                </a:solidFill>
              </a:rPr>
              <a:t>eliminate the heavy lifting</a:t>
            </a:r>
            <a:r>
              <a:rPr lang="en-US" sz="1100">
                <a:solidFill>
                  <a:srgbClr val="FFFF00"/>
                </a:solidFill>
              </a:rPr>
              <a:t>—the searching, filtering, and drafting. The 'Human-in-the-Loop' feature is designed to take less than </a:t>
            </a:r>
            <a:r>
              <a:rPr b="1" lang="en-US" sz="1100">
                <a:solidFill>
                  <a:srgbClr val="FFFF00"/>
                </a:solidFill>
              </a:rPr>
              <a:t>five minutes a day</a:t>
            </a:r>
            <a:r>
              <a:rPr lang="en-US" sz="1100">
                <a:solidFill>
                  <a:srgbClr val="FFFF00"/>
                </a:solidFill>
              </a:rPr>
              <a:t>.</a:t>
            </a:r>
            <a:endParaRPr sz="3200">
              <a:solidFill>
                <a:srgbClr val="FFFF00"/>
              </a:solidFill>
              <a:latin typeface="Calibri"/>
              <a:ea typeface="Calibri"/>
              <a:cs typeface="Calibri"/>
              <a:sym typeface="Calibri"/>
            </a:endParaRPr>
          </a:p>
        </p:txBody>
      </p:sp>
      <p:sp>
        <p:nvSpPr>
          <p:cNvPr id="256" name="Google Shape;256;p25"/>
          <p:cNvSpPr txBox="1"/>
          <p:nvPr/>
        </p:nvSpPr>
        <p:spPr>
          <a:xfrm>
            <a:off x="725025" y="3558975"/>
            <a:ext cx="51456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100">
                <a:solidFill>
                  <a:schemeClr val="accent3"/>
                </a:solidFill>
              </a:rPr>
              <a:t>"</a:t>
            </a:r>
            <a:r>
              <a:rPr lang="en-US" sz="1100">
                <a:solidFill>
                  <a:schemeClr val="accent3"/>
                </a:solidFill>
              </a:rPr>
              <a:t>My art is deeply personal, and I have a strict 'no spam' policy. How can I be sure this AI isn't going to make me look like a desperate online salesperson or get me banned from a community?"</a:t>
            </a:r>
            <a:endParaRPr sz="3200">
              <a:solidFill>
                <a:schemeClr val="accent3"/>
              </a:solidFill>
              <a:latin typeface="Calibri"/>
              <a:ea typeface="Calibri"/>
              <a:cs typeface="Calibri"/>
              <a:sym typeface="Calibri"/>
            </a:endParaRPr>
          </a:p>
        </p:txBody>
      </p:sp>
      <p:sp>
        <p:nvSpPr>
          <p:cNvPr id="257" name="Google Shape;257;p25"/>
          <p:cNvSpPr txBox="1"/>
          <p:nvPr/>
        </p:nvSpPr>
        <p:spPr>
          <a:xfrm>
            <a:off x="725025" y="4205150"/>
            <a:ext cx="51456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100">
                <a:solidFill>
                  <a:srgbClr val="FFFF00"/>
                </a:solidFill>
              </a:rPr>
              <a:t>You have the </a:t>
            </a:r>
            <a:r>
              <a:rPr b="1" lang="en-US" sz="1100">
                <a:solidFill>
                  <a:srgbClr val="FFFF00"/>
                </a:solidFill>
              </a:rPr>
              <a:t>final veto</a:t>
            </a:r>
            <a:r>
              <a:rPr lang="en-US" sz="1100">
                <a:solidFill>
                  <a:srgbClr val="FFFF00"/>
                </a:solidFill>
              </a:rPr>
              <a:t>. The AI can never, under any circumstance, post a single word without you explicitly hitting the 'Approve' button first. If a draft doesn't sound like you, you edit it or reject it.</a:t>
            </a:r>
            <a:endParaRPr sz="3200">
              <a:solidFill>
                <a:srgbClr val="FFFF00"/>
              </a:solidFill>
              <a:latin typeface="Calibri"/>
              <a:ea typeface="Calibri"/>
              <a:cs typeface="Calibri"/>
              <a:sym typeface="Calibri"/>
            </a:endParaRPr>
          </a:p>
        </p:txBody>
      </p:sp>
      <p:sp>
        <p:nvSpPr>
          <p:cNvPr id="258" name="Google Shape;258;p25"/>
          <p:cNvSpPr txBox="1"/>
          <p:nvPr/>
        </p:nvSpPr>
        <p:spPr>
          <a:xfrm>
            <a:off x="5900325" y="2253625"/>
            <a:ext cx="51456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100">
                <a:solidFill>
                  <a:schemeClr val="accent3"/>
                </a:solidFill>
              </a:rPr>
              <a:t>"This sounds technically complex—Python, Streamlit, LLMs... What happens when something breaks? Will I need to hire a programmer to manage this, or will I lose my data?"</a:t>
            </a:r>
            <a:endParaRPr sz="3200">
              <a:solidFill>
                <a:schemeClr val="accent3"/>
              </a:solidFill>
              <a:latin typeface="Calibri"/>
              <a:ea typeface="Calibri"/>
              <a:cs typeface="Calibri"/>
              <a:sym typeface="Calibri"/>
            </a:endParaRPr>
          </a:p>
        </p:txBody>
      </p:sp>
      <p:sp>
        <p:nvSpPr>
          <p:cNvPr id="259" name="Google Shape;259;p25"/>
          <p:cNvSpPr txBox="1"/>
          <p:nvPr/>
        </p:nvSpPr>
        <p:spPr>
          <a:xfrm>
            <a:off x="6010350" y="3112750"/>
            <a:ext cx="5145600" cy="2153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lang="en-US" sz="1100">
                <a:solidFill>
                  <a:srgbClr val="FFFF00"/>
                </a:solidFill>
              </a:rPr>
              <a:t>"We handle all of the technical complexity. You never see the code. This is delivered as a </a:t>
            </a:r>
            <a:r>
              <a:rPr b="1" lang="en-US" sz="1100">
                <a:solidFill>
                  <a:srgbClr val="FFFF00"/>
                </a:solidFill>
              </a:rPr>
              <a:t>fully managed service</a:t>
            </a:r>
            <a:r>
              <a:rPr lang="en-US" sz="1100">
                <a:solidFill>
                  <a:srgbClr val="FFFF00"/>
                </a:solidFill>
              </a:rPr>
              <a:t>.</a:t>
            </a:r>
            <a:endParaRPr sz="1100">
              <a:solidFill>
                <a:srgbClr val="FFFF00"/>
              </a:solidFill>
            </a:endParaRPr>
          </a:p>
          <a:p>
            <a:pPr indent="0" lvl="0" marL="0" rtl="0" algn="l">
              <a:lnSpc>
                <a:spcPct val="115000"/>
              </a:lnSpc>
              <a:spcBef>
                <a:spcPts val="1200"/>
              </a:spcBef>
              <a:spcAft>
                <a:spcPts val="0"/>
              </a:spcAft>
              <a:buClr>
                <a:schemeClr val="dk1"/>
              </a:buClr>
              <a:buSzPts val="1100"/>
              <a:buFont typeface="Arial"/>
              <a:buNone/>
            </a:pPr>
            <a:r>
              <a:rPr lang="en-US" sz="1100">
                <a:solidFill>
                  <a:srgbClr val="FFFF00"/>
                </a:solidFill>
              </a:rPr>
              <a:t>The 'Streamlit' dashboard is designed for ultimate simplicity—it looks and feels like a basic web app. If the system goes down, ArtInsight's team fixes it. Your only responsibility is to log in, review the leads, and hit 'Approve.' It is designed to be as effortless as checking your email."</a:t>
            </a:r>
            <a:endParaRPr sz="1100">
              <a:solidFill>
                <a:srgbClr val="FFFF00"/>
              </a:solidFill>
            </a:endParaRPr>
          </a:p>
          <a:p>
            <a:pPr indent="0" lvl="0" marL="0" rtl="0" algn="l">
              <a:spcBef>
                <a:spcPts val="1200"/>
              </a:spcBef>
              <a:spcAft>
                <a:spcPts val="0"/>
              </a:spcAft>
              <a:buNone/>
            </a:pPr>
            <a:r>
              <a:t/>
            </a:r>
            <a:endParaRPr sz="3200">
              <a:solidFill>
                <a:srgbClr val="FFFF00"/>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263" name="Shape 263"/>
        <p:cNvGrpSpPr/>
        <p:nvPr/>
      </p:nvGrpSpPr>
      <p:grpSpPr>
        <a:xfrm>
          <a:off x="0" y="0"/>
          <a:ext cx="0" cy="0"/>
          <a:chOff x="0" y="0"/>
          <a:chExt cx="0" cy="0"/>
        </a:xfrm>
      </p:grpSpPr>
      <p:pic>
        <p:nvPicPr>
          <p:cNvPr descr="image.png" id="264" name="Google Shape;264;p2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65" name="Google Shape;265;p26"/>
          <p:cNvSpPr/>
          <p:nvPr/>
        </p:nvSpPr>
        <p:spPr>
          <a:xfrm>
            <a:off x="571500" y="3249066"/>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6" name="Google Shape;266;p26"/>
          <p:cNvSpPr/>
          <p:nvPr/>
        </p:nvSpPr>
        <p:spPr>
          <a:xfrm>
            <a:off x="571500" y="4033837"/>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7" name="Google Shape;267;p26"/>
          <p:cNvSpPr/>
          <p:nvPr/>
        </p:nvSpPr>
        <p:spPr>
          <a:xfrm>
            <a:off x="571500" y="4818608"/>
            <a:ext cx="11049000" cy="9525"/>
          </a:xfrm>
          <a:prstGeom prst="rect">
            <a:avLst/>
          </a:prstGeom>
          <a:solidFill>
            <a:srgbClr val="75757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68" name="Google Shape;268;p26"/>
          <p:cNvPicPr preferRelativeResize="0"/>
          <p:nvPr/>
        </p:nvPicPr>
        <p:blipFill rotWithShape="1">
          <a:blip r:embed="rId4">
            <a:alphaModFix/>
          </a:blip>
          <a:srcRect b="0" l="0" r="0" t="0"/>
          <a:stretch/>
        </p:blipFill>
        <p:spPr>
          <a:xfrm>
            <a:off x="571500" y="2623244"/>
            <a:ext cx="857250" cy="476250"/>
          </a:xfrm>
          <a:prstGeom prst="rect">
            <a:avLst/>
          </a:prstGeom>
          <a:noFill/>
          <a:ln>
            <a:noFill/>
          </a:ln>
        </p:spPr>
      </p:pic>
      <p:sp>
        <p:nvSpPr>
          <p:cNvPr id="269" name="Google Shape;269;p26"/>
          <p:cNvSpPr txBox="1"/>
          <p:nvPr/>
        </p:nvSpPr>
        <p:spPr>
          <a:xfrm>
            <a:off x="1666875" y="2616696"/>
            <a:ext cx="995362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CBD5E1"/>
                </a:solidFill>
                <a:latin typeface="Urbanist"/>
                <a:ea typeface="Urbanist"/>
                <a:cs typeface="Urbanist"/>
                <a:sym typeface="Urbanist"/>
              </a:rPr>
              <a:t>https://3pmedia.leroymerlin.co.za/SOURCE/3648903e35c74b3496d6971a713f541f?tr=if-iar_ne_1,w-566,h-566,cm-pad_resize,if-else,w-566,h-566,if-end</a:t>
            </a:r>
            <a:endParaRPr/>
          </a:p>
        </p:txBody>
      </p:sp>
      <p:sp>
        <p:nvSpPr>
          <p:cNvPr id="270" name="Google Shape;270;p26"/>
          <p:cNvSpPr txBox="1"/>
          <p:nvPr/>
        </p:nvSpPr>
        <p:spPr>
          <a:xfrm>
            <a:off x="1666875" y="2862411"/>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CBD5E1"/>
                </a:solidFill>
                <a:latin typeface="Urbanist"/>
                <a:ea typeface="Urbanist"/>
                <a:cs typeface="Urbanist"/>
                <a:sym typeface="Urbanist"/>
              </a:rPr>
              <a:t>Source: </a:t>
            </a:r>
            <a:r>
              <a:rPr b="0" i="0" lang="en-US" sz="1200" u="none" cap="none" strike="noStrike">
                <a:solidFill>
                  <a:srgbClr val="4F46E5"/>
                </a:solidFill>
                <a:latin typeface="Urbanist"/>
                <a:ea typeface="Urbanist"/>
                <a:cs typeface="Urbanist"/>
                <a:sym typeface="Urbanist"/>
              </a:rPr>
              <a:t>leroymerlin.co.za</a:t>
            </a:r>
            <a:endParaRPr/>
          </a:p>
        </p:txBody>
      </p:sp>
      <p:pic>
        <p:nvPicPr>
          <p:cNvPr descr="image.png" id="271" name="Google Shape;271;p26"/>
          <p:cNvPicPr preferRelativeResize="0"/>
          <p:nvPr/>
        </p:nvPicPr>
        <p:blipFill rotWithShape="1">
          <a:blip r:embed="rId5">
            <a:alphaModFix/>
          </a:blip>
          <a:srcRect b="0" l="0" r="0" t="0"/>
          <a:stretch/>
        </p:blipFill>
        <p:spPr>
          <a:xfrm>
            <a:off x="571500" y="3408015"/>
            <a:ext cx="857250" cy="476250"/>
          </a:xfrm>
          <a:prstGeom prst="rect">
            <a:avLst/>
          </a:prstGeom>
          <a:noFill/>
          <a:ln>
            <a:noFill/>
          </a:ln>
        </p:spPr>
      </p:pic>
      <p:sp>
        <p:nvSpPr>
          <p:cNvPr id="272" name="Google Shape;272;p26"/>
          <p:cNvSpPr txBox="1"/>
          <p:nvPr/>
        </p:nvSpPr>
        <p:spPr>
          <a:xfrm>
            <a:off x="1666875" y="3401466"/>
            <a:ext cx="995362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CBD5E1"/>
                </a:solidFill>
                <a:latin typeface="Urbanist"/>
                <a:ea typeface="Urbanist"/>
                <a:cs typeface="Urbanist"/>
                <a:sym typeface="Urbanist"/>
              </a:rPr>
              <a:t>https://cdn.shopify.com/s/files/1/0634/4353/3982/files/Wallroom-Neutral-colours.jpg?v=1702412766</a:t>
            </a:r>
            <a:endParaRPr/>
          </a:p>
        </p:txBody>
      </p:sp>
      <p:sp>
        <p:nvSpPr>
          <p:cNvPr id="273" name="Google Shape;273;p26"/>
          <p:cNvSpPr txBox="1"/>
          <p:nvPr/>
        </p:nvSpPr>
        <p:spPr>
          <a:xfrm>
            <a:off x="1666875" y="3647182"/>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CBD5E1"/>
                </a:solidFill>
                <a:latin typeface="Urbanist"/>
                <a:ea typeface="Urbanist"/>
                <a:cs typeface="Urbanist"/>
                <a:sym typeface="Urbanist"/>
              </a:rPr>
              <a:t>Source: </a:t>
            </a:r>
            <a:r>
              <a:rPr b="0" i="0" lang="en-US" sz="1200" u="none" cap="none" strike="noStrike">
                <a:solidFill>
                  <a:srgbClr val="4F46E5"/>
                </a:solidFill>
                <a:latin typeface="Urbanist"/>
                <a:ea typeface="Urbanist"/>
                <a:cs typeface="Urbanist"/>
                <a:sym typeface="Urbanist"/>
              </a:rPr>
              <a:t>wallroom.co.za</a:t>
            </a:r>
            <a:endParaRPr/>
          </a:p>
        </p:txBody>
      </p:sp>
      <p:pic>
        <p:nvPicPr>
          <p:cNvPr descr="image.png" id="274" name="Google Shape;274;p26"/>
          <p:cNvPicPr preferRelativeResize="0"/>
          <p:nvPr/>
        </p:nvPicPr>
        <p:blipFill rotWithShape="1">
          <a:blip r:embed="rId6">
            <a:alphaModFix/>
          </a:blip>
          <a:srcRect b="0" l="0" r="0" t="0"/>
          <a:stretch/>
        </p:blipFill>
        <p:spPr>
          <a:xfrm>
            <a:off x="571500" y="4192785"/>
            <a:ext cx="857250" cy="476250"/>
          </a:xfrm>
          <a:prstGeom prst="rect">
            <a:avLst/>
          </a:prstGeom>
          <a:noFill/>
          <a:ln>
            <a:noFill/>
          </a:ln>
        </p:spPr>
      </p:pic>
      <p:sp>
        <p:nvSpPr>
          <p:cNvPr id="275" name="Google Shape;275;p26"/>
          <p:cNvSpPr txBox="1"/>
          <p:nvPr/>
        </p:nvSpPr>
        <p:spPr>
          <a:xfrm>
            <a:off x="1666875" y="4186237"/>
            <a:ext cx="995362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CBD5E1"/>
                </a:solidFill>
                <a:latin typeface="Urbanist"/>
                <a:ea typeface="Urbanist"/>
                <a:cs typeface="Urbanist"/>
                <a:sym typeface="Urbanist"/>
              </a:rPr>
              <a:t>https://www.decorilla.com/online-decorating/wp-content/uploads/2022/03/modern-office-design-for-a-large-conference-room.jpeg</a:t>
            </a:r>
            <a:endParaRPr/>
          </a:p>
        </p:txBody>
      </p:sp>
      <p:sp>
        <p:nvSpPr>
          <p:cNvPr id="276" name="Google Shape;276;p26"/>
          <p:cNvSpPr txBox="1"/>
          <p:nvPr/>
        </p:nvSpPr>
        <p:spPr>
          <a:xfrm>
            <a:off x="1666875" y="4431952"/>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CBD5E1"/>
                </a:solidFill>
                <a:latin typeface="Urbanist"/>
                <a:ea typeface="Urbanist"/>
                <a:cs typeface="Urbanist"/>
                <a:sym typeface="Urbanist"/>
              </a:rPr>
              <a:t>Source: </a:t>
            </a:r>
            <a:r>
              <a:rPr b="0" i="0" lang="en-US" sz="1200" u="none" cap="none" strike="noStrike">
                <a:solidFill>
                  <a:srgbClr val="4F46E5"/>
                </a:solidFill>
                <a:latin typeface="Urbanist"/>
                <a:ea typeface="Urbanist"/>
                <a:cs typeface="Urbanist"/>
                <a:sym typeface="Urbanist"/>
              </a:rPr>
              <a:t>decorilla.com</a:t>
            </a:r>
            <a:endParaRPr/>
          </a:p>
        </p:txBody>
      </p:sp>
      <p:pic>
        <p:nvPicPr>
          <p:cNvPr descr="image.png" id="277" name="Google Shape;277;p26"/>
          <p:cNvPicPr preferRelativeResize="0"/>
          <p:nvPr/>
        </p:nvPicPr>
        <p:blipFill rotWithShape="1">
          <a:blip r:embed="rId7">
            <a:alphaModFix/>
          </a:blip>
          <a:srcRect b="0" l="0" r="0" t="0"/>
          <a:stretch/>
        </p:blipFill>
        <p:spPr>
          <a:xfrm>
            <a:off x="571500" y="4977556"/>
            <a:ext cx="857250" cy="476250"/>
          </a:xfrm>
          <a:prstGeom prst="rect">
            <a:avLst/>
          </a:prstGeom>
          <a:noFill/>
          <a:ln>
            <a:noFill/>
          </a:ln>
        </p:spPr>
      </p:pic>
      <p:sp>
        <p:nvSpPr>
          <p:cNvPr id="278" name="Google Shape;278;p26"/>
          <p:cNvSpPr txBox="1"/>
          <p:nvPr/>
        </p:nvSpPr>
        <p:spPr>
          <a:xfrm>
            <a:off x="1666875" y="4971008"/>
            <a:ext cx="9953625" cy="1980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975" u="none" cap="none" strike="noStrike">
                <a:solidFill>
                  <a:srgbClr val="CBD5E1"/>
                </a:solidFill>
                <a:latin typeface="Urbanist"/>
                <a:ea typeface="Urbanist"/>
                <a:cs typeface="Urbanist"/>
                <a:sym typeface="Urbanist"/>
              </a:rPr>
              <a:t>https://assets.justinmind.com/wp-content/uploads/2020/02/dashboard-examples-social-media.png</a:t>
            </a:r>
            <a:endParaRPr/>
          </a:p>
        </p:txBody>
      </p:sp>
      <p:sp>
        <p:nvSpPr>
          <p:cNvPr id="279" name="Google Shape;279;p26"/>
          <p:cNvSpPr txBox="1"/>
          <p:nvPr/>
        </p:nvSpPr>
        <p:spPr>
          <a:xfrm>
            <a:off x="1666875" y="5216723"/>
            <a:ext cx="9953625" cy="2437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CBD5E1"/>
                </a:solidFill>
                <a:latin typeface="Urbanist"/>
                <a:ea typeface="Urbanist"/>
                <a:cs typeface="Urbanist"/>
                <a:sym typeface="Urbanist"/>
              </a:rPr>
              <a:t>Source: </a:t>
            </a:r>
            <a:r>
              <a:rPr b="0" i="0" lang="en-US" sz="1200" u="none" cap="none" strike="noStrike">
                <a:solidFill>
                  <a:srgbClr val="4F46E5"/>
                </a:solidFill>
                <a:latin typeface="Urbanist"/>
                <a:ea typeface="Urbanist"/>
                <a:cs typeface="Urbanist"/>
                <a:sym typeface="Urbanist"/>
              </a:rPr>
              <a:t>www.justinmind.com</a:t>
            </a:r>
            <a:endParaRPr/>
          </a:p>
        </p:txBody>
      </p:sp>
      <p:sp>
        <p:nvSpPr>
          <p:cNvPr id="280" name="Google Shape;280;p26"/>
          <p:cNvSpPr txBox="1"/>
          <p:nvPr/>
        </p:nvSpPr>
        <p:spPr>
          <a:xfrm>
            <a:off x="571500" y="571500"/>
            <a:ext cx="11601450" cy="5524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600" u="none" cap="none" strike="noStrike">
                <a:solidFill>
                  <a:srgbClr val="DEFF9A"/>
                </a:solidFill>
                <a:latin typeface="Urbanist"/>
                <a:ea typeface="Urbanist"/>
                <a:cs typeface="Urbanist"/>
                <a:sym typeface="Urbanist"/>
              </a:rPr>
              <a:t>Image Sources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